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0" r:id="rId4"/>
    <p:sldId id="273" r:id="rId5"/>
    <p:sldId id="296" r:id="rId6"/>
    <p:sldId id="299" r:id="rId7"/>
    <p:sldId id="300" r:id="rId8"/>
    <p:sldId id="301" r:id="rId9"/>
    <p:sldId id="302" r:id="rId10"/>
    <p:sldId id="274" r:id="rId11"/>
    <p:sldId id="276" r:id="rId12"/>
    <p:sldId id="277" r:id="rId13"/>
    <p:sldId id="278" r:id="rId14"/>
    <p:sldId id="279" r:id="rId15"/>
    <p:sldId id="280" r:id="rId16"/>
    <p:sldId id="281" r:id="rId17"/>
    <p:sldId id="282" r:id="rId18"/>
    <p:sldId id="283" r:id="rId19"/>
    <p:sldId id="284" r:id="rId20"/>
    <p:sldId id="295" r:id="rId21"/>
    <p:sldId id="286" r:id="rId22"/>
    <p:sldId id="287" r:id="rId23"/>
    <p:sldId id="288" r:id="rId24"/>
    <p:sldId id="289" r:id="rId25"/>
    <p:sldId id="290" r:id="rId26"/>
    <p:sldId id="291" r:id="rId27"/>
    <p:sldId id="292" r:id="rId28"/>
    <p:sldId id="261" r:id="rId29"/>
    <p:sldId id="268" r:id="rId30"/>
    <p:sldId id="269" r:id="rId31"/>
    <p:sldId id="298" r:id="rId32"/>
    <p:sldId id="263"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803" autoAdjust="0"/>
  </p:normalViewPr>
  <p:slideViewPr>
    <p:cSldViewPr>
      <p:cViewPr>
        <p:scale>
          <a:sx n="76" d="100"/>
          <a:sy n="76" d="100"/>
        </p:scale>
        <p:origin x="-1206" y="5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F6DD1F27-361A-40E4-A3D0-C0B3DF1B8C01}" type="datetimeFigureOut">
              <a:rPr lang="en-IN" smtClean="0"/>
            </a:fld>
            <a:endParaRPr lang="en-IN"/>
          </a:p>
        </p:txBody>
      </p:sp>
      <p:sp>
        <p:nvSpPr>
          <p:cNvPr id="19" name="Footer Placeholder 18"/>
          <p:cNvSpPr>
            <a:spLocks noGrp="1"/>
          </p:cNvSpPr>
          <p:nvPr>
            <p:ph type="ftr" sz="quarter" idx="11"/>
          </p:nvPr>
        </p:nvSpPr>
        <p:spPr/>
        <p:txBody>
          <a:bodyPr/>
          <a:lstStyle/>
          <a:p>
            <a:endParaRPr lang="en-IN"/>
          </a:p>
        </p:txBody>
      </p:sp>
      <p:sp>
        <p:nvSpPr>
          <p:cNvPr id="27" name="Slide Number Placeholder 26"/>
          <p:cNvSpPr>
            <a:spLocks noGrp="1"/>
          </p:cNvSpPr>
          <p:nvPr>
            <p:ph type="sldNum" sz="quarter" idx="12"/>
          </p:nvPr>
        </p:nvSpPr>
        <p:spPr/>
        <p:txBody>
          <a:bodyPr/>
          <a:lstStyle/>
          <a:p>
            <a:fld id="{BBD35B86-7E1C-44C9-A473-9E1D2F8DF8F8}" type="slidenum">
              <a:rPr lang="en-IN" smtClean="0"/>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6DD1F27-361A-40E4-A3D0-C0B3DF1B8C0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D35B86-7E1C-44C9-A473-9E1D2F8DF8F8}"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F6DD1F27-361A-40E4-A3D0-C0B3DF1B8C0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D35B86-7E1C-44C9-A473-9E1D2F8DF8F8}" type="slidenum">
              <a:rPr lang="en-IN" smtClean="0"/>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6DD1F27-361A-40E4-A3D0-C0B3DF1B8C0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D35B86-7E1C-44C9-A473-9E1D2F8DF8F8}"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F6DD1F27-361A-40E4-A3D0-C0B3DF1B8C01}"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BD35B86-7E1C-44C9-A473-9E1D2F8DF8F8}"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6DD1F27-361A-40E4-A3D0-C0B3DF1B8C01}"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BD35B86-7E1C-44C9-A473-9E1D2F8DF8F8}"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DD1F27-361A-40E4-A3D0-C0B3DF1B8C01}"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BD35B86-7E1C-44C9-A473-9E1D2F8DF8F8}"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6DD1F27-361A-40E4-A3D0-C0B3DF1B8C0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D35B86-7E1C-44C9-A473-9E1D2F8DF8F8}"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F6DD1F27-361A-40E4-A3D0-C0B3DF1B8C0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8077200" y="6356350"/>
            <a:ext cx="609600" cy="365125"/>
          </a:xfrm>
        </p:spPr>
        <p:txBody>
          <a:bodyPr/>
          <a:lstStyle/>
          <a:p>
            <a:fld id="{BBD35B86-7E1C-44C9-A473-9E1D2F8DF8F8}" type="slidenum">
              <a:rPr lang="en-IN" smtClean="0"/>
            </a:fld>
            <a:endParaRPr lang="en-IN"/>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6DD1F27-361A-40E4-A3D0-C0B3DF1B8C0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D35B86-7E1C-44C9-A473-9E1D2F8DF8F8}"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6DD1F27-361A-40E4-A3D0-C0B3DF1B8C0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D35B86-7E1C-44C9-A473-9E1D2F8DF8F8}"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F6DD1F27-361A-40E4-A3D0-C0B3DF1B8C01}" type="datetimeFigureOut">
              <a:rPr lang="en-IN" smtClean="0"/>
            </a:fld>
            <a:endParaRPr lang="en-I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BD35B86-7E1C-44C9-A473-9E1D2F8DF8F8}" type="slidenum">
              <a:rPr lang="en-IN" smtClean="0"/>
            </a:fld>
            <a:endParaRPr lang="en-IN"/>
          </a:p>
        </p:txBody>
      </p:sp>
      <p:grpSp>
        <p:nvGrpSpPr>
          <p:cNvPr id="2" name="Group 1"/>
          <p:cNvGrpSpPr/>
          <p:nvPr/>
        </p:nvGrpSpPr>
        <p:grpSpPr>
          <a:xfrm>
            <a:off x="-19017" y="202408"/>
            <a:ext cx="9180548"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hyperlink" Target="http://en.wikipedia.org/wiki/File:Waterfall_model.sv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1640" y="1917065"/>
            <a:ext cx="5487035" cy="2571115"/>
          </a:xfrm>
        </p:spPr>
        <p:txBody>
          <a:bodyPr>
            <a:normAutofit fontScale="90000"/>
          </a:bodyPr>
          <a:lstStyle/>
          <a:p>
            <a:pPr algn="ctr"/>
            <a:br>
              <a:rPr lang="en-IN" sz="7335" dirty="0" smtClean="0">
                <a:latin typeface="Times New Roman" panose="02020603050405020304" pitchFamily="18" charset="0"/>
                <a:cs typeface="Times New Roman" panose="02020603050405020304" pitchFamily="18" charset="0"/>
              </a:rPr>
            </a:br>
            <a:br>
              <a:rPr lang="en-IN" sz="7335" dirty="0" smtClean="0">
                <a:latin typeface="Times New Roman" panose="02020603050405020304" pitchFamily="18" charset="0"/>
                <a:cs typeface="Times New Roman" panose="02020603050405020304" pitchFamily="18" charset="0"/>
              </a:rPr>
            </a:br>
            <a:br>
              <a:rPr lang="en-IN" sz="7335" dirty="0" smtClean="0">
                <a:latin typeface="Times New Roman" panose="02020603050405020304" pitchFamily="18" charset="0"/>
                <a:cs typeface="Times New Roman" panose="02020603050405020304" pitchFamily="18" charset="0"/>
              </a:rPr>
            </a:br>
            <a:br>
              <a:rPr lang="en-IN" sz="7335" dirty="0" smtClean="0">
                <a:latin typeface="Times New Roman" panose="02020603050405020304" pitchFamily="18" charset="0"/>
                <a:cs typeface="Times New Roman" panose="02020603050405020304" pitchFamily="18" charset="0"/>
              </a:rPr>
            </a:br>
            <a:br>
              <a:rPr lang="en-IN" sz="7335" dirty="0" smtClean="0">
                <a:latin typeface="Times New Roman" panose="02020603050405020304" pitchFamily="18" charset="0"/>
                <a:cs typeface="Times New Roman" panose="02020603050405020304" pitchFamily="18" charset="0"/>
              </a:rPr>
            </a:br>
            <a:br>
              <a:rPr lang="en-IN" sz="7335" dirty="0" smtClean="0">
                <a:latin typeface="Times New Roman" panose="02020603050405020304" pitchFamily="18" charset="0"/>
                <a:cs typeface="Times New Roman" panose="02020603050405020304" pitchFamily="18" charset="0"/>
              </a:rPr>
            </a:br>
            <a:r>
              <a:rPr lang="en-IN" sz="4890" dirty="0" smtClean="0">
                <a:latin typeface="Times New Roman" panose="02020603050405020304" pitchFamily="18" charset="0"/>
                <a:cs typeface="Times New Roman" panose="02020603050405020304" pitchFamily="18" charset="0"/>
              </a:rPr>
              <a:t>C</a:t>
            </a:r>
            <a:r>
              <a:rPr lang="en-US" altLang="en-IN" sz="4890" dirty="0" smtClean="0">
                <a:latin typeface="Times New Roman" panose="02020603050405020304" pitchFamily="18" charset="0"/>
                <a:cs typeface="Times New Roman" panose="02020603050405020304" pitchFamily="18" charset="0"/>
              </a:rPr>
              <a:t>ONTROLLING</a:t>
            </a:r>
            <a:r>
              <a:rPr lang="en-IN" sz="4890" dirty="0" smtClean="0">
                <a:latin typeface="Times New Roman" panose="02020603050405020304" pitchFamily="18" charset="0"/>
                <a:cs typeface="Times New Roman" panose="02020603050405020304" pitchFamily="18" charset="0"/>
              </a:rPr>
              <a:t> </a:t>
            </a:r>
            <a:r>
              <a:rPr lang="en-IN" sz="4890" dirty="0">
                <a:latin typeface="Times New Roman" panose="02020603050405020304" pitchFamily="18" charset="0"/>
                <a:cs typeface="Times New Roman" panose="02020603050405020304" pitchFamily="18" charset="0"/>
              </a:rPr>
              <a:t>PC </a:t>
            </a:r>
            <a:br>
              <a:rPr lang="en-IN" sz="4890" dirty="0">
                <a:latin typeface="Times New Roman" panose="02020603050405020304" pitchFamily="18" charset="0"/>
                <a:cs typeface="Times New Roman" panose="02020603050405020304" pitchFamily="18" charset="0"/>
              </a:rPr>
            </a:br>
            <a:r>
              <a:rPr lang="en-IN" sz="4890" dirty="0">
                <a:latin typeface="Times New Roman" panose="02020603050405020304" pitchFamily="18" charset="0"/>
                <a:cs typeface="Times New Roman" panose="02020603050405020304" pitchFamily="18" charset="0"/>
              </a:rPr>
              <a:t>via </a:t>
            </a:r>
            <a:br>
              <a:rPr lang="en-IN" sz="4890" dirty="0">
                <a:latin typeface="Times New Roman" panose="02020603050405020304" pitchFamily="18" charset="0"/>
                <a:cs typeface="Times New Roman" panose="02020603050405020304" pitchFamily="18" charset="0"/>
              </a:rPr>
            </a:br>
            <a:r>
              <a:rPr lang="en-IN" sz="4890" dirty="0">
                <a:latin typeface="Times New Roman" panose="02020603050405020304" pitchFamily="18" charset="0"/>
                <a:cs typeface="Times New Roman" panose="02020603050405020304" pitchFamily="18" charset="0"/>
              </a:rPr>
              <a:t>V</a:t>
            </a:r>
            <a:r>
              <a:rPr lang="en-US" altLang="en-IN" sz="4890" dirty="0">
                <a:latin typeface="Times New Roman" panose="02020603050405020304" pitchFamily="18" charset="0"/>
                <a:cs typeface="Times New Roman" panose="02020603050405020304" pitchFamily="18" charset="0"/>
              </a:rPr>
              <a:t>OICE</a:t>
            </a:r>
            <a:br>
              <a:rPr lang="en-US" altLang="en-IN" sz="7335" dirty="0">
                <a:latin typeface="Times New Roman" panose="02020603050405020304" pitchFamily="18" charset="0"/>
                <a:cs typeface="Times New Roman" panose="02020603050405020304" pitchFamily="18" charset="0"/>
              </a:rPr>
            </a:br>
            <a:endParaRPr lang="en-US" altLang="en-IN" sz="7335" dirty="0">
              <a:latin typeface="Times New Roman" panose="02020603050405020304" pitchFamily="18" charset="0"/>
              <a:cs typeface="Times New Roman" panose="02020603050405020304" pitchFamily="18" charset="0"/>
            </a:endParaRPr>
          </a:p>
        </p:txBody>
      </p:sp>
      <p:sp>
        <p:nvSpPr>
          <p:cNvPr id="6" name="Text Box 5"/>
          <p:cNvSpPr txBox="1"/>
          <p:nvPr/>
        </p:nvSpPr>
        <p:spPr>
          <a:xfrm>
            <a:off x="4787900" y="4581525"/>
            <a:ext cx="3898900" cy="1245235"/>
          </a:xfrm>
          <a:prstGeom prst="rect">
            <a:avLst/>
          </a:prstGeom>
          <a:noFill/>
        </p:spPr>
        <p:txBody>
          <a:bodyPr wrap="square" rtlCol="0">
            <a:spAutoFit/>
          </a:bodyPr>
          <a:p>
            <a:pPr algn="ctr"/>
            <a:r>
              <a:rPr lang="en-US" sz="2400">
                <a:effectLst>
                  <a:reflection blurRad="6350" stA="53000" endA="300" endPos="35500" dir="5400000" sy="-90000" algn="bl" rotWithShape="0"/>
                </a:effectLst>
                <a:latin typeface="+mj-lt"/>
                <a:cs typeface="+mj-lt"/>
                <a:sym typeface="+mn-ea"/>
              </a:rPr>
              <a:t>MEGHANA KANDRU</a:t>
            </a:r>
            <a:endParaRPr lang="en-US" sz="2400">
              <a:solidFill>
                <a:schemeClr val="tx1"/>
              </a:solidFill>
              <a:effectLst>
                <a:reflection blurRad="6350" stA="53000" endA="300" endPos="35500" dir="5400000" sy="-90000" algn="bl" rotWithShape="0"/>
              </a:effectLst>
              <a:latin typeface="+mj-lt"/>
              <a:cs typeface="+mj-lt"/>
            </a:endParaRPr>
          </a:p>
          <a:p>
            <a:pPr algn="ctr"/>
            <a:endParaRPr lang="en-US">
              <a:solidFill>
                <a:schemeClr val="tx1"/>
              </a:solidFill>
              <a:effectLst>
                <a:reflection blurRad="6350" stA="53000" endA="300" endPos="35500" dir="5400000" sy="-90000" algn="bl" rotWithShape="0"/>
              </a:effectLst>
            </a:endParaRPr>
          </a:p>
          <a:p>
            <a:pPr algn="ctr"/>
            <a:r>
              <a:rPr lang="en-US" sz="1200">
                <a:effectLst>
                  <a:outerShdw blurRad="38100" dist="19050" dir="2700000" algn="tl" rotWithShape="0">
                    <a:schemeClr val="dk1">
                      <a:alpha val="40000"/>
                    </a:schemeClr>
                  </a:outerShdw>
                </a:effectLst>
                <a:sym typeface="+mn-ea"/>
              </a:rPr>
              <a:t>BACHELOR OF TECHNOLOGY </a:t>
            </a:r>
            <a:endParaRPr lang="en-US" sz="1200">
              <a:solidFill>
                <a:schemeClr val="tx1"/>
              </a:solidFill>
              <a:effectLst>
                <a:outerShdw blurRad="38100" dist="19050" dir="2700000" algn="tl" rotWithShape="0">
                  <a:schemeClr val="dk1">
                    <a:alpha val="40000"/>
                  </a:schemeClr>
                </a:outerShdw>
              </a:effectLst>
            </a:endParaRPr>
          </a:p>
          <a:p>
            <a:pPr algn="ctr"/>
            <a:r>
              <a:rPr lang="en-US" sz="900">
                <a:effectLst>
                  <a:outerShdw blurRad="38100" dist="19050" dir="2700000" algn="tl" rotWithShape="0">
                    <a:schemeClr val="dk1">
                      <a:alpha val="40000"/>
                    </a:schemeClr>
                  </a:outerShdw>
                </a:effectLst>
                <a:sym typeface="+mn-ea"/>
              </a:rPr>
              <a:t>IN</a:t>
            </a:r>
            <a:endParaRPr lang="en-US" sz="900">
              <a:solidFill>
                <a:schemeClr val="tx1"/>
              </a:solidFill>
              <a:effectLst>
                <a:outerShdw blurRad="38100" dist="19050" dir="2700000" algn="tl" rotWithShape="0">
                  <a:schemeClr val="dk1">
                    <a:alpha val="40000"/>
                  </a:schemeClr>
                </a:outerShdw>
              </a:effectLst>
            </a:endParaRPr>
          </a:p>
          <a:p>
            <a:pPr algn="ctr"/>
            <a:r>
              <a:rPr lang="en-US" sz="1200">
                <a:effectLst>
                  <a:outerShdw blurRad="38100" dist="19050" dir="2700000" algn="tl" rotWithShape="0">
                    <a:schemeClr val="dk1">
                      <a:alpha val="40000"/>
                    </a:schemeClr>
                  </a:outerShdw>
                </a:effectLst>
                <a:sym typeface="+mn-ea"/>
              </a:rPr>
              <a:t>COMPUTER SCIENCE &amp; ENGINEERING</a:t>
            </a:r>
            <a:endParaRPr lang="en-US" sz="12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rmAutofit fontScale="90000"/>
          </a:bodyPr>
          <a:lstStyle/>
          <a:p>
            <a:pPr algn="ctr"/>
            <a:br>
              <a:rPr lang="en-US" dirty="0" smtClean="0"/>
            </a:br>
            <a:r>
              <a:rPr lang="en-US" dirty="0" smtClean="0"/>
              <a:t>INTRODUCTION</a:t>
            </a:r>
            <a:endParaRPr lang="en-US" dirty="0"/>
          </a:p>
        </p:txBody>
      </p:sp>
      <p:sp>
        <p:nvSpPr>
          <p:cNvPr id="4" name="Content Placeholder 3"/>
          <p:cNvSpPr txBox="1">
            <a:spLocks noGrp="1"/>
          </p:cNvSpPr>
          <p:nvPr>
            <p:ph idx="1"/>
          </p:nvPr>
        </p:nvSpPr>
        <p:spPr>
          <a:xfrm>
            <a:off x="179512" y="1340768"/>
            <a:ext cx="8229600" cy="5521512"/>
          </a:xfrm>
          <a:prstGeom prst="rect">
            <a:avLst/>
          </a:prstGeom>
          <a:noFill/>
        </p:spPr>
        <p:txBody>
          <a:bodyPr wrap="square" rtlCol="0">
            <a:spAutoFit/>
          </a:bodyPr>
          <a:lstStyle/>
          <a:p>
            <a:pPr>
              <a:buFont typeface="Wingdings" panose="05000000000000000000" pitchFamily="2" charset="2"/>
              <a:buChar char="v"/>
            </a:pPr>
            <a:r>
              <a:rPr lang="en-US" sz="2000" b="1" dirty="0" smtClean="0">
                <a:latin typeface="Times New Roman" panose="02020603050405020304" pitchFamily="18" charset="0"/>
              </a:rPr>
              <a:t> </a:t>
            </a:r>
            <a:r>
              <a:rPr lang="en-US" sz="2400" dirty="0" smtClean="0">
                <a:latin typeface="Arial Narrow" panose="020B0606020202030204" pitchFamily="34" charset="0"/>
              </a:rPr>
              <a:t>As it is the application based program by which we can operate the windows and quickly launch the basic required command by just saying the command name or the basic utility which we want to open. The easy way of interacting with the computer is provided by our application. This project is very helpful to the person who is lame and wants to operate the computer by the help of voice. It provide the facility of opening, closing, saving and many more short commands to operate the windows. So this facility is quite effective</a:t>
            </a:r>
            <a:r>
              <a:rPr lang="en-US" sz="2400" dirty="0" smtClean="0">
                <a:effectLst>
                  <a:outerShdw blurRad="38100" dist="38100" dir="2700000" algn="tl">
                    <a:srgbClr val="000000">
                      <a:alpha val="43137"/>
                    </a:srgbClr>
                  </a:outerShdw>
                </a:effectLst>
                <a:latin typeface="Arial Narrow" panose="020B0606020202030204" pitchFamily="34" charset="0"/>
              </a:rPr>
              <a:t>.</a:t>
            </a:r>
            <a:endParaRPr lang="en-US" sz="2400" dirty="0" smtClean="0">
              <a:effectLst>
                <a:outerShdw blurRad="38100" dist="38100" dir="2700000" algn="tl">
                  <a:srgbClr val="000000">
                    <a:alpha val="43137"/>
                  </a:srgbClr>
                </a:outerShdw>
              </a:effectLst>
              <a:latin typeface="Arial Narrow" panose="020B0606020202030204" pitchFamily="34" charset="0"/>
            </a:endParaRPr>
          </a:p>
          <a:p>
            <a:endParaRPr lang="en-US" sz="2400" dirty="0" smtClean="0">
              <a:effectLst>
                <a:outerShdw blurRad="38100" dist="38100" dir="2700000" algn="tl">
                  <a:srgbClr val="000000">
                    <a:alpha val="43137"/>
                  </a:srgbClr>
                </a:outerShdw>
              </a:effectLst>
              <a:latin typeface="Arial Narrow" panose="020B0606020202030204" pitchFamily="34" charset="0"/>
            </a:endParaRPr>
          </a:p>
          <a:p>
            <a:pPr>
              <a:buFont typeface="Wingdings" panose="05000000000000000000" pitchFamily="2" charset="2"/>
              <a:buChar char="v"/>
            </a:pPr>
            <a:r>
              <a:rPr lang="en-US" sz="2400" dirty="0" smtClean="0">
                <a:latin typeface="Arial Narrow" panose="020B0606020202030204" pitchFamily="34" charset="0"/>
                <a:cs typeface="Times New Roman" panose="02020603050405020304" pitchFamily="18" charset="0"/>
              </a:rPr>
              <a:t>This project is also helpful to the person who is tiered from operating the windows through keypad or mouse, he can use this software to easy and comfortable operation of the windows .This project helps by just enabling the windows by voice </a:t>
            </a:r>
            <a:r>
              <a:rPr lang="en-US" sz="2400" dirty="0" smtClean="0">
                <a:latin typeface="Arial Narrow" panose="020B0606020202030204" pitchFamily="34" charset="0"/>
                <a:cs typeface="Times New Roman" panose="02020603050405020304" pitchFamily="18" charset="0"/>
              </a:rPr>
              <a:t>commands</a:t>
            </a:r>
            <a:endParaRPr lang="en-IN" sz="2400" b="1" dirty="0" smtClean="0">
              <a:solidFill>
                <a:srgbClr val="FF0000"/>
              </a:solidFill>
              <a:effectLst>
                <a:outerShdw blurRad="38100" dist="38100" dir="2700000" algn="tl">
                  <a:srgbClr val="000000">
                    <a:alpha val="43137"/>
                  </a:srgbClr>
                </a:outerShdw>
              </a:effectLst>
              <a:latin typeface="Arial Narrow" panose="020B0606020202030204" pitchFamily="34" charset="0"/>
            </a:endParaRPr>
          </a:p>
          <a:p>
            <a:endParaRPr lang="en-IN" b="1" dirty="0">
              <a:ln w="12700">
                <a:solidFill>
                  <a:schemeClr val="tx2">
                    <a:satMod val="155000"/>
                  </a:schemeClr>
                </a:solidFill>
                <a:prstDash val="solid"/>
              </a:ln>
              <a:solidFill>
                <a:srgbClr val="FF0000"/>
              </a:solidFill>
              <a:effectLst>
                <a:outerShdw blurRad="38100" dist="38100" dir="2700000" algn="tl" rotWithShape="0">
                  <a:srgbClr val="000000">
                    <a:alpha val="43137"/>
                  </a:srgbClr>
                </a:outerShdw>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692696"/>
            <a:ext cx="8229600" cy="1143000"/>
          </a:xfrm>
        </p:spPr>
        <p:txBody>
          <a:bodyPr>
            <a:normAutofit fontScale="90000"/>
          </a:bodyPr>
          <a:lstStyle/>
          <a:p>
            <a:pPr algn="ctr"/>
            <a:br>
              <a:rPr lang="en-US" sz="4800" b="1" dirty="0" smtClean="0">
                <a:ln w="50800"/>
                <a:solidFill>
                  <a:schemeClr val="bg1">
                    <a:shade val="50000"/>
                  </a:schemeClr>
                </a:solidFill>
                <a:latin typeface="Algerian" panose="04020705040A02060702" pitchFamily="82" charset="0"/>
              </a:rPr>
            </a:br>
            <a:r>
              <a:rPr lang="en-US" sz="4000" b="1" dirty="0" smtClean="0">
                <a:ln w="50800"/>
                <a:solidFill>
                  <a:schemeClr val="tx1"/>
                </a:solidFill>
                <a:latin typeface="Times New Roman" panose="02020603050405020304" pitchFamily="18" charset="0"/>
                <a:cs typeface="Times New Roman" panose="02020603050405020304" pitchFamily="18" charset="0"/>
              </a:rPr>
              <a:t>WHY TO USE THIS PROJECT ?</a:t>
            </a:r>
            <a:endParaRPr lang="en-US" dirty="0">
              <a:solidFill>
                <a:schemeClr val="tx1"/>
              </a:solidFill>
            </a:endParaRPr>
          </a:p>
        </p:txBody>
      </p:sp>
      <p:sp>
        <p:nvSpPr>
          <p:cNvPr id="3" name="Content Placeholder 2"/>
          <p:cNvSpPr>
            <a:spLocks noGrp="1"/>
          </p:cNvSpPr>
          <p:nvPr>
            <p:ph idx="1"/>
          </p:nvPr>
        </p:nvSpPr>
        <p:spPr/>
        <p:txBody>
          <a:bodyPr>
            <a:normAutofit fontScale="85000" lnSpcReduction="10000"/>
          </a:bodyPr>
          <a:lstStyle/>
          <a:p>
            <a:pPr lvl="0">
              <a:buFont typeface="Wingdings" panose="05000000000000000000" pitchFamily="2" charset="2"/>
              <a:buChar char="v"/>
            </a:pPr>
            <a:r>
              <a:rPr lang="en-US" sz="2800" dirty="0" smtClean="0">
                <a:latin typeface="Arial Narrow" panose="020B0606020202030204" pitchFamily="34" charset="0"/>
              </a:rPr>
              <a:t>This service is available at any time.</a:t>
            </a:r>
            <a:endParaRPr lang="en-US" sz="2800" dirty="0" smtClean="0">
              <a:latin typeface="Arial Narrow" panose="020B0606020202030204" pitchFamily="34" charset="0"/>
            </a:endParaRPr>
          </a:p>
          <a:p>
            <a:pPr lvl="0">
              <a:buNone/>
            </a:pPr>
            <a:endParaRPr lang="en-US" sz="2800" dirty="0" smtClean="0">
              <a:latin typeface="Arial Narrow" panose="020B0606020202030204" pitchFamily="34" charset="0"/>
            </a:endParaRPr>
          </a:p>
          <a:p>
            <a:pPr lvl="0">
              <a:buFont typeface="Wingdings" panose="05000000000000000000" pitchFamily="2" charset="2"/>
              <a:buChar char="v"/>
            </a:pPr>
            <a:r>
              <a:rPr lang="en-US" sz="2800" dirty="0" smtClean="0">
                <a:latin typeface="Arial Narrow" panose="020B0606020202030204" pitchFamily="34" charset="0"/>
              </a:rPr>
              <a:t>The main advantage of this project is that it does not require any LAN or WAN connection and any knowledge of database handling</a:t>
            </a:r>
            <a:r>
              <a:rPr lang="en-US" sz="2800" dirty="0" smtClean="0">
                <a:latin typeface="Arial Narrow" panose="020B0606020202030204" pitchFamily="34" charset="0"/>
              </a:rPr>
              <a:t>.</a:t>
            </a:r>
            <a:endParaRPr lang="en-IN" sz="2800" dirty="0" smtClean="0">
              <a:latin typeface="Arial Narrow" panose="020B0606020202030204" pitchFamily="34" charset="0"/>
            </a:endParaRPr>
          </a:p>
          <a:p>
            <a:pPr lvl="0">
              <a:buNone/>
            </a:pPr>
            <a:endParaRPr lang="en-US" sz="2800" dirty="0" smtClean="0">
              <a:latin typeface="Arial Narrow" panose="020B0606020202030204" pitchFamily="34" charset="0"/>
            </a:endParaRPr>
          </a:p>
          <a:p>
            <a:pPr lvl="0">
              <a:buFont typeface="Wingdings" panose="05000000000000000000" pitchFamily="2" charset="2"/>
              <a:buChar char="v"/>
            </a:pPr>
            <a:r>
              <a:rPr lang="en-US" sz="2800" dirty="0" smtClean="0">
                <a:latin typeface="Arial Narrow" panose="020B0606020202030204" pitchFamily="34" charset="0"/>
              </a:rPr>
              <a:t>It is very cheap in price.</a:t>
            </a:r>
            <a:endParaRPr lang="en-IN" sz="2800" dirty="0" smtClean="0">
              <a:latin typeface="Arial Narrow" panose="020B0606020202030204" pitchFamily="34" charset="0"/>
            </a:endParaRPr>
          </a:p>
          <a:p>
            <a:pPr lvl="0">
              <a:buFont typeface="Wingdings" panose="05000000000000000000" pitchFamily="2" charset="2"/>
              <a:buChar char="v"/>
            </a:pPr>
            <a:endParaRPr lang="en-US" sz="2800" dirty="0" smtClean="0">
              <a:latin typeface="Arial Narrow" panose="020B0606020202030204" pitchFamily="34" charset="0"/>
            </a:endParaRPr>
          </a:p>
          <a:p>
            <a:pPr lvl="0">
              <a:buFont typeface="Wingdings" panose="05000000000000000000" pitchFamily="2" charset="2"/>
              <a:buChar char="v"/>
            </a:pPr>
            <a:r>
              <a:rPr lang="en-US" sz="2800" dirty="0" smtClean="0">
                <a:latin typeface="Arial Narrow" panose="020B0606020202030204" pitchFamily="34" charset="0"/>
              </a:rPr>
              <a:t>It is one of the best methods for handling database service.  </a:t>
            </a:r>
            <a:endParaRPr lang="en-US" sz="2800" dirty="0" smtClean="0">
              <a:latin typeface="Arial Narrow" panose="020B0606020202030204" pitchFamily="34" charset="0"/>
            </a:endParaRPr>
          </a:p>
          <a:p>
            <a:pPr lvl="0">
              <a:buFont typeface="Wingdings" panose="05000000000000000000" pitchFamily="2" charset="2"/>
              <a:buChar char="v"/>
            </a:pPr>
            <a:endParaRPr lang="en-US" sz="2800" dirty="0" smtClean="0">
              <a:latin typeface="Arial Narrow" panose="020B0606020202030204" pitchFamily="34" charset="0"/>
            </a:endParaRPr>
          </a:p>
          <a:p>
            <a:pPr lvl="0">
              <a:buFont typeface="Wingdings" panose="05000000000000000000" pitchFamily="2" charset="2"/>
              <a:buChar char="v"/>
            </a:pPr>
            <a:r>
              <a:rPr lang="en-US" sz="2800" dirty="0" smtClean="0">
                <a:latin typeface="Arial Narrow" panose="020B0606020202030204" pitchFamily="34" charset="0"/>
              </a:rPr>
              <a:t>The  basic utilities like notepad, paint ,calculator  etc   can be opened  within seconds by this software.</a:t>
            </a:r>
            <a:endParaRPr lang="en-IN" sz="2800" dirty="0" smtClean="0">
              <a:latin typeface="Arial Narrow" panose="020B0606020202030204" pitchFamily="34" charset="0"/>
            </a:endParaRP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smtClean="0"/>
            </a:br>
            <a:r>
              <a:rPr lang="en-US" smtClean="0"/>
              <a:t>Purpose and scope </a:t>
            </a:r>
            <a:endParaRPr lang="en-US" dirty="0"/>
          </a:p>
        </p:txBody>
      </p:sp>
      <p:sp>
        <p:nvSpPr>
          <p:cNvPr id="3" name="Content Placeholder 2"/>
          <p:cNvSpPr>
            <a:spLocks noGrp="1"/>
          </p:cNvSpPr>
          <p:nvPr>
            <p:ph idx="1"/>
          </p:nvPr>
        </p:nvSpPr>
        <p:spPr/>
        <p:txBody>
          <a:bodyPr>
            <a:normAutofit fontScale="85000" lnSpcReduction="20000"/>
          </a:bodyPr>
          <a:lstStyle/>
          <a:p>
            <a:pPr lvl="0"/>
            <a:r>
              <a:rPr lang="en-US" smtClean="0"/>
              <a:t>This is a desktop application which means it has to be installed on any machine to get it in a working state. </a:t>
            </a:r>
            <a:endParaRPr lang="en-US" smtClean="0"/>
          </a:p>
          <a:p>
            <a:pPr lvl="0"/>
            <a:endParaRPr lang="en-US" smtClean="0"/>
          </a:p>
          <a:p>
            <a:pPr lvl="0"/>
            <a:r>
              <a:rPr lang="en-US" smtClean="0"/>
              <a:t>The application shall help you to retrieve data via human voice in natural language. </a:t>
            </a:r>
            <a:endParaRPr lang="en-IN" smtClean="0"/>
          </a:p>
          <a:p>
            <a:pPr lvl="0"/>
            <a:endParaRPr lang="en-IN" smtClean="0"/>
          </a:p>
          <a:p>
            <a:pPr lvl="0"/>
            <a:r>
              <a:rPr lang="en-US" smtClean="0"/>
              <a:t>The software can be used by any user, there is not any specific requirement for an operating system but then it has to be at least Microsoft.</a:t>
            </a:r>
            <a:endParaRPr lang="en-IN" smtClean="0"/>
          </a:p>
          <a:p>
            <a:pPr lvl="0"/>
            <a:endParaRPr lang="en-IN" smtClean="0"/>
          </a:p>
          <a:p>
            <a:pPr lvl="0"/>
            <a:r>
              <a:rPr lang="en-US" smtClean="0"/>
              <a:t>This software is also being able to generate database.</a:t>
            </a:r>
            <a:endParaRPr lang="en-IN" smtClean="0"/>
          </a:p>
          <a:p>
            <a:pPr lvl="0"/>
            <a:endParaRPr lang="en-IN" smtClean="0"/>
          </a:p>
          <a:p>
            <a:pPr lvl="0"/>
            <a:r>
              <a:rPr lang="en-US" smtClean="0"/>
              <a:t>Easy to use.</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t>
            </a:r>
            <a:r>
              <a:rPr lang="en-IN" dirty="0" smtClean="0">
                <a:latin typeface="Times New Roman" panose="02020603050405020304" pitchFamily="18" charset="0"/>
                <a:cs typeface="Times New Roman" panose="02020603050405020304" pitchFamily="18" charset="0"/>
              </a:rPr>
              <a:t>Analysis and Explanation of</a:t>
            </a:r>
            <a:br>
              <a:rPr lang="en-IN" dirty="0" smtClean="0">
                <a:latin typeface="Times New Roman" panose="02020603050405020304" pitchFamily="18" charset="0"/>
                <a:cs typeface="Times New Roman" panose="02020603050405020304" pitchFamily="18" charset="0"/>
              </a:rPr>
            </a:br>
            <a:r>
              <a:rPr lang="en-IN" dirty="0" smtClean="0">
                <a:latin typeface="Times New Roman" panose="02020603050405020304" pitchFamily="18" charset="0"/>
                <a:cs typeface="Times New Roman" panose="02020603050405020304" pitchFamily="18" charset="0"/>
              </a:rPr>
              <a:t>            Identified Problem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Speech Recognition is a technology that allows the computer to identify and understand words spoken</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by person using a microphone or telephone.</a:t>
            </a:r>
            <a:endParaRPr lang="en-IN" dirty="0" smtClean="0">
              <a:latin typeface="Times New Roman" panose="02020603050405020304" pitchFamily="18" charset="0"/>
              <a:cs typeface="Times New Roman" panose="02020603050405020304" pitchFamily="18" charset="0"/>
            </a:endParaRPr>
          </a:p>
          <a:p>
            <a:pPr>
              <a:buNone/>
            </a:pPr>
            <a:endParaRPr lang="en-IN" dirty="0" smtClean="0"/>
          </a:p>
          <a:p>
            <a:pPr>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The ultimate goal of the technology is to be able the</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basic utility software within the few seconds by just</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saying the name of that utility</a:t>
            </a:r>
            <a:r>
              <a:rPr lang="en-IN" dirty="0" smtClean="0"/>
              <a:t>.</a:t>
            </a:r>
            <a:endParaRPr lang="en-IN"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t>
            </a:r>
            <a:r>
              <a:rPr lang="en-IN" dirty="0" smtClean="0">
                <a:latin typeface="Times New Roman" panose="02020603050405020304" pitchFamily="18" charset="0"/>
                <a:cs typeface="Times New Roman" panose="02020603050405020304" pitchFamily="18" charset="0"/>
              </a:rPr>
              <a:t>Analysis and Explanation of</a:t>
            </a:r>
            <a:br>
              <a:rPr lang="en-IN" dirty="0" smtClean="0">
                <a:latin typeface="Times New Roman" panose="02020603050405020304" pitchFamily="18" charset="0"/>
                <a:cs typeface="Times New Roman" panose="02020603050405020304" pitchFamily="18" charset="0"/>
              </a:rPr>
            </a:br>
            <a:r>
              <a:rPr lang="en-IN" dirty="0" smtClean="0">
                <a:latin typeface="Times New Roman" panose="02020603050405020304" pitchFamily="18" charset="0"/>
                <a:cs typeface="Times New Roman" panose="02020603050405020304" pitchFamily="18" charset="0"/>
              </a:rPr>
              <a:t>    Identified Problem (cont..)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  In first step speech is converted into text. Steps are</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shown in the figure.</a:t>
            </a:r>
            <a:endParaRPr lang="en-IN" dirty="0" smtClean="0">
              <a:latin typeface="Times New Roman" panose="02020603050405020304" pitchFamily="18" charset="0"/>
              <a:cs typeface="Times New Roman" panose="02020603050405020304" pitchFamily="18" charset="0"/>
            </a:endParaRPr>
          </a:p>
          <a:p>
            <a:pPr>
              <a:buNone/>
            </a:pPr>
            <a:r>
              <a:rPr lang="en-IN" dirty="0" smtClean="0"/>
              <a:t>    </a:t>
            </a:r>
            <a:endParaRPr lang="en-IN" dirty="0" smtClean="0"/>
          </a:p>
          <a:p>
            <a:pPr>
              <a:buNone/>
            </a:pPr>
            <a:endParaRPr lang="en-IN" dirty="0"/>
          </a:p>
        </p:txBody>
      </p:sp>
      <p:pic>
        <p:nvPicPr>
          <p:cNvPr id="4" name="Picture 3" descr="I:\New Folder\550px-TTS_System.jpg"/>
          <p:cNvPicPr/>
          <p:nvPr/>
        </p:nvPicPr>
        <p:blipFill>
          <a:blip r:embed="rId1" cstate="print"/>
          <a:srcRect/>
          <a:stretch>
            <a:fillRect/>
          </a:stretch>
        </p:blipFill>
        <p:spPr bwMode="auto">
          <a:xfrm>
            <a:off x="899592" y="2996952"/>
            <a:ext cx="7200800" cy="3096344"/>
          </a:xfrm>
          <a:prstGeom prst="rect">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r>
              <a:rPr lang="en-IN" dirty="0" smtClean="0">
                <a:latin typeface="Times New Roman" panose="02020603050405020304" pitchFamily="18" charset="0"/>
                <a:cs typeface="Times New Roman" panose="02020603050405020304" pitchFamily="18" charset="0"/>
              </a:rPr>
              <a:t>Literature Review</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Speech Synthesis: It provides the reverse process of producing synthetic speech from text generated by an application ,applet or a user. It is often referred to as text to speech technology.</a:t>
            </a:r>
            <a:endParaRPr lang="en-IN"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The major steps involved are :</a:t>
            </a:r>
            <a:endParaRPr lang="en-IN" dirty="0" smtClean="0">
              <a:latin typeface="Times New Roman" panose="02020603050405020304" pitchFamily="18" charset="0"/>
              <a:cs typeface="Times New Roman" panose="02020603050405020304" pitchFamily="18" charset="0"/>
            </a:endParaRPr>
          </a:p>
          <a:p>
            <a:pPr algn="just">
              <a:buNone/>
            </a:pPr>
            <a:r>
              <a:rPr lang="en-IN" dirty="0" smtClean="0">
                <a:latin typeface="Times New Roman" panose="02020603050405020304" pitchFamily="18" charset="0"/>
                <a:cs typeface="Times New Roman" panose="02020603050405020304" pitchFamily="18" charset="0"/>
              </a:rPr>
              <a:t>    1.Structure Analysis</a:t>
            </a:r>
            <a:endParaRPr lang="en-IN" dirty="0" smtClean="0">
              <a:latin typeface="Times New Roman" panose="02020603050405020304" pitchFamily="18" charset="0"/>
              <a:cs typeface="Times New Roman" panose="02020603050405020304" pitchFamily="18" charset="0"/>
            </a:endParaRPr>
          </a:p>
          <a:p>
            <a:pPr algn="just">
              <a:buNone/>
            </a:pPr>
            <a:r>
              <a:rPr lang="en-IN" dirty="0" smtClean="0">
                <a:latin typeface="Times New Roman" panose="02020603050405020304" pitchFamily="18" charset="0"/>
                <a:cs typeface="Times New Roman" panose="02020603050405020304" pitchFamily="18" charset="0"/>
              </a:rPr>
              <a:t>     2.Text pre processing</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692696"/>
            <a:ext cx="8229600" cy="1143000"/>
          </a:xfrm>
        </p:spPr>
        <p:txBody>
          <a:bodyPr/>
          <a:lstStyle/>
          <a:p>
            <a:r>
              <a:rPr lang="en-IN" dirty="0" smtClean="0">
                <a:latin typeface="Times New Roman" panose="02020603050405020304" pitchFamily="18" charset="0"/>
                <a:cs typeface="Times New Roman" panose="02020603050405020304" pitchFamily="18" charset="0"/>
              </a:rPr>
              <a:t>   Literature Review (Cont..)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Speech Recognition : It provides computers with the ability to listen to spoken language and determine what has been said.</a:t>
            </a:r>
            <a:endParaRPr lang="en-IN"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In other words , it processes audio input containing</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speech by converting it to text.</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The major steps are :</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1.Grammar Design</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2.Signal processing</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3.Phoneme Recognition</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dlc.jpg"/>
          <p:cNvPicPr>
            <a:picLocks noChangeAspect="1"/>
          </p:cNvPicPr>
          <p:nvPr/>
        </p:nvPicPr>
        <p:blipFill>
          <a:blip r:embed="rId1" cstate="print"/>
          <a:stretch>
            <a:fillRect/>
          </a:stretch>
        </p:blipFill>
        <p:spPr>
          <a:xfrm>
            <a:off x="0" y="0"/>
            <a:ext cx="9144000" cy="68580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SOFTWARE MODEL(</a:t>
            </a:r>
            <a:r>
              <a:rPr lang="en-US" sz="2800" dirty="0" smtClean="0">
                <a:latin typeface="Times New Roman" panose="02020603050405020304" pitchFamily="18" charset="0"/>
                <a:cs typeface="Times New Roman" panose="02020603050405020304" pitchFamily="18" charset="0"/>
              </a:rPr>
              <a:t>Waterfall Model)</a:t>
            </a:r>
            <a:endParaRPr lang="en-US" sz="4000" dirty="0">
              <a:latin typeface="Times New Roman" panose="02020603050405020304" pitchFamily="18" charset="0"/>
              <a:cs typeface="Times New Roman" panose="02020603050405020304" pitchFamily="18" charset="0"/>
            </a:endParaRPr>
          </a:p>
        </p:txBody>
      </p:sp>
      <p:pic>
        <p:nvPicPr>
          <p:cNvPr id="3" name="Picture 2" descr="350px-Waterfall_model">
            <a:hlinkClick r:id="rId1"/>
          </p:cNvPr>
          <p:cNvPicPr/>
          <p:nvPr/>
        </p:nvPicPr>
        <p:blipFill>
          <a:blip r:embed="rId2" cstate="print"/>
          <a:srcRect/>
          <a:stretch>
            <a:fillRect/>
          </a:stretch>
        </p:blipFill>
        <p:spPr bwMode="auto">
          <a:xfrm>
            <a:off x="1403648" y="2492896"/>
            <a:ext cx="5986129" cy="35938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764704"/>
            <a:ext cx="8305800" cy="360040"/>
          </a:xfrm>
        </p:spPr>
        <p:txBody>
          <a:bodyPr>
            <a:normAutofit fontScale="90000"/>
          </a:bodyPr>
          <a:lstStyle/>
          <a:p>
            <a:pPr algn="ctr"/>
            <a:r>
              <a:rPr lang="en-US" sz="5400" b="1" dirty="0" smtClean="0">
                <a:solidFill>
                  <a:schemeClr val="tx1"/>
                </a:solidFill>
                <a:latin typeface="Algerian" panose="04020705040A02060702" pitchFamily="82" charset="0"/>
              </a:rPr>
              <a:t>Design</a:t>
            </a:r>
            <a:endParaRPr lang="en-US" dirty="0">
              <a:solidFill>
                <a:schemeClr val="tx1"/>
              </a:solidFill>
            </a:endParaRPr>
          </a:p>
        </p:txBody>
      </p:sp>
      <p:sp>
        <p:nvSpPr>
          <p:cNvPr id="3" name="Rectangle 2"/>
          <p:cNvSpPr/>
          <p:nvPr/>
        </p:nvSpPr>
        <p:spPr>
          <a:xfrm>
            <a:off x="2286000" y="1196752"/>
            <a:ext cx="4572000" cy="5570756"/>
          </a:xfrm>
          <a:prstGeom prst="rect">
            <a:avLst/>
          </a:prstGeom>
        </p:spPr>
        <p:txBody>
          <a:bodyPr wrap="square">
            <a:spAutoFit/>
          </a:bodyPr>
          <a:lstStyle/>
          <a:p>
            <a:pPr marL="342900" lvl="0" indent="-342900">
              <a:spcBef>
                <a:spcPct val="20000"/>
              </a:spcBef>
              <a:buFont typeface="Wingdings" panose="05000000000000000000" pitchFamily="2" charset="2"/>
              <a:buChar char="v"/>
              <a:defRPr/>
            </a:pPr>
            <a:r>
              <a:rPr lang="en-US" sz="2000" dirty="0" smtClean="0">
                <a:latin typeface="Arial Narrow" panose="020B0606020202030204" pitchFamily="34" charset="0"/>
              </a:rPr>
              <a:t>Low level Design</a:t>
            </a:r>
            <a:endParaRPr lang="en-US" sz="2000" dirty="0" smtClean="0">
              <a:latin typeface="Arial Narrow" panose="020B0606020202030204" pitchFamily="34" charset="0"/>
            </a:endParaRPr>
          </a:p>
          <a:p>
            <a:pPr marL="342900" lvl="0" indent="-342900">
              <a:spcBef>
                <a:spcPct val="20000"/>
              </a:spcBef>
              <a:defRPr/>
            </a:pPr>
            <a:endParaRPr lang="en-US" sz="2000" dirty="0" smtClean="0">
              <a:latin typeface="Arial Narrow" panose="020B0606020202030204" pitchFamily="34" charset="0"/>
            </a:endParaRPr>
          </a:p>
          <a:p>
            <a:pPr marL="742950" lvl="1" indent="-285750">
              <a:spcBef>
                <a:spcPct val="20000"/>
              </a:spcBef>
              <a:buFont typeface="Wingdings" panose="05000000000000000000" pitchFamily="2" charset="2"/>
              <a:buChar char="v"/>
              <a:defRPr/>
            </a:pPr>
            <a:r>
              <a:rPr lang="en-US" sz="2000" dirty="0" smtClean="0">
                <a:latin typeface="Arial Narrow" panose="020B0606020202030204" pitchFamily="34" charset="0"/>
              </a:rPr>
              <a:t>DFD</a:t>
            </a:r>
            <a:endParaRPr lang="en-US" sz="2000" dirty="0" smtClean="0">
              <a:latin typeface="Arial Narrow" panose="020B0606020202030204" pitchFamily="34" charset="0"/>
            </a:endParaRPr>
          </a:p>
          <a:p>
            <a:pPr marL="742950" lvl="1" indent="-285750">
              <a:spcBef>
                <a:spcPct val="20000"/>
              </a:spcBef>
              <a:defRPr/>
            </a:pPr>
            <a:endParaRPr lang="en-US" sz="2000" dirty="0" smtClean="0">
              <a:latin typeface="Arial Narrow" panose="020B0606020202030204" pitchFamily="34" charset="0"/>
            </a:endParaRPr>
          </a:p>
          <a:p>
            <a:pPr marL="742950" lvl="1" indent="-285750">
              <a:spcBef>
                <a:spcPct val="20000"/>
              </a:spcBef>
              <a:buFont typeface="Wingdings" panose="05000000000000000000" pitchFamily="2" charset="2"/>
              <a:buChar char="v"/>
              <a:defRPr/>
            </a:pPr>
            <a:r>
              <a:rPr lang="en-US" sz="2000" dirty="0" smtClean="0">
                <a:latin typeface="Arial Narrow" panose="020B0606020202030204" pitchFamily="34" charset="0"/>
              </a:rPr>
              <a:t>SFD</a:t>
            </a:r>
            <a:endParaRPr lang="en-US" sz="2000" dirty="0" smtClean="0">
              <a:latin typeface="Arial Narrow" panose="020B0606020202030204" pitchFamily="34" charset="0"/>
            </a:endParaRPr>
          </a:p>
          <a:p>
            <a:pPr marL="742950" lvl="1" indent="-285750">
              <a:spcBef>
                <a:spcPct val="20000"/>
              </a:spcBef>
              <a:defRPr/>
            </a:pPr>
            <a:endParaRPr lang="en-US" sz="2000" dirty="0" smtClean="0">
              <a:latin typeface="Arial Narrow" panose="020B0606020202030204" pitchFamily="34" charset="0"/>
            </a:endParaRPr>
          </a:p>
          <a:p>
            <a:pPr marL="742950" lvl="1" indent="-285750">
              <a:spcBef>
                <a:spcPct val="20000"/>
              </a:spcBef>
              <a:buFont typeface="Wingdings" panose="05000000000000000000" pitchFamily="2" charset="2"/>
              <a:buChar char="v"/>
              <a:defRPr/>
            </a:pPr>
            <a:r>
              <a:rPr lang="en-US" sz="2000" dirty="0" smtClean="0">
                <a:latin typeface="Arial Narrow" panose="020B0606020202030204" pitchFamily="34" charset="0"/>
              </a:rPr>
              <a:t>CFD</a:t>
            </a:r>
            <a:endParaRPr lang="en-US" sz="2000" dirty="0" smtClean="0">
              <a:latin typeface="Arial Narrow" panose="020B0606020202030204" pitchFamily="34" charset="0"/>
            </a:endParaRPr>
          </a:p>
          <a:p>
            <a:pPr marL="742950" lvl="1" indent="-285750">
              <a:spcBef>
                <a:spcPct val="20000"/>
              </a:spcBef>
              <a:defRPr/>
            </a:pPr>
            <a:endParaRPr lang="en-US" sz="2000" dirty="0" smtClean="0">
              <a:latin typeface="Arial Narrow" panose="020B0606020202030204" pitchFamily="34" charset="0"/>
            </a:endParaRPr>
          </a:p>
          <a:p>
            <a:pPr marL="742950" lvl="1" indent="-285750">
              <a:spcBef>
                <a:spcPct val="20000"/>
              </a:spcBef>
              <a:buFont typeface="Wingdings" panose="05000000000000000000" pitchFamily="2" charset="2"/>
              <a:buChar char="v"/>
              <a:defRPr/>
            </a:pPr>
            <a:r>
              <a:rPr lang="en-US" sz="2000" dirty="0" smtClean="0">
                <a:latin typeface="Arial Narrow" panose="020B0606020202030204" pitchFamily="34" charset="0"/>
              </a:rPr>
              <a:t>Class Diagram</a:t>
            </a:r>
            <a:endParaRPr lang="en-US" sz="2000" dirty="0" smtClean="0">
              <a:latin typeface="Arial Narrow" panose="020B0606020202030204" pitchFamily="34" charset="0"/>
            </a:endParaRPr>
          </a:p>
          <a:p>
            <a:pPr marL="742950" lvl="1" indent="-285750">
              <a:spcBef>
                <a:spcPct val="20000"/>
              </a:spcBef>
              <a:defRPr/>
            </a:pPr>
            <a:endParaRPr lang="en-US" sz="2000" dirty="0" smtClean="0">
              <a:latin typeface="Arial Narrow" panose="020B0606020202030204" pitchFamily="34" charset="0"/>
            </a:endParaRPr>
          </a:p>
          <a:p>
            <a:pPr marL="742950" lvl="1" indent="-285750">
              <a:spcBef>
                <a:spcPct val="20000"/>
              </a:spcBef>
              <a:buFont typeface="Wingdings" panose="05000000000000000000" pitchFamily="2" charset="2"/>
              <a:buChar char="v"/>
              <a:defRPr/>
            </a:pPr>
            <a:r>
              <a:rPr lang="en-US" sz="2000" dirty="0" smtClean="0">
                <a:latin typeface="Arial Narrow" panose="020B0606020202030204" pitchFamily="34" charset="0"/>
              </a:rPr>
              <a:t>Use case Diagram.</a:t>
            </a:r>
            <a:endParaRPr lang="en-US" sz="2000" dirty="0" smtClean="0">
              <a:latin typeface="Arial Narrow" panose="020B0606020202030204" pitchFamily="34" charset="0"/>
            </a:endParaRPr>
          </a:p>
          <a:p>
            <a:pPr marL="742950" lvl="1" indent="-285750">
              <a:spcBef>
                <a:spcPct val="20000"/>
              </a:spcBef>
              <a:defRPr/>
            </a:pPr>
            <a:endParaRPr lang="en-US" sz="2000" dirty="0" smtClean="0">
              <a:latin typeface="Arial Narrow" panose="020B0606020202030204" pitchFamily="34" charset="0"/>
            </a:endParaRPr>
          </a:p>
          <a:p>
            <a:pPr marL="342900" lvl="0" indent="-342900">
              <a:spcBef>
                <a:spcPct val="20000"/>
              </a:spcBef>
              <a:buFont typeface="Wingdings" panose="05000000000000000000" pitchFamily="2" charset="2"/>
              <a:buChar char="v"/>
              <a:defRPr/>
            </a:pPr>
            <a:r>
              <a:rPr lang="en-US" sz="2000" dirty="0" smtClean="0">
                <a:latin typeface="Arial Narrow" panose="020B0606020202030204" pitchFamily="34" charset="0"/>
              </a:rPr>
              <a:t>High level Design</a:t>
            </a:r>
            <a:endParaRPr lang="en-US" sz="2000" dirty="0" smtClean="0">
              <a:latin typeface="Arial Narrow" panose="020B0606020202030204" pitchFamily="34" charset="0"/>
            </a:endParaRPr>
          </a:p>
          <a:p>
            <a:pPr marL="342900" lvl="0" indent="-342900">
              <a:spcBef>
                <a:spcPct val="20000"/>
              </a:spcBef>
              <a:defRPr/>
            </a:pPr>
            <a:endParaRPr lang="en-US" sz="2000" dirty="0" smtClean="0">
              <a:latin typeface="Arial Narrow" panose="020B0606020202030204" pitchFamily="34" charset="0"/>
            </a:endParaRPr>
          </a:p>
          <a:p>
            <a:pPr marL="742950" lvl="1" indent="-285750">
              <a:spcBef>
                <a:spcPct val="20000"/>
              </a:spcBef>
              <a:buFont typeface="Wingdings" panose="05000000000000000000" pitchFamily="2" charset="2"/>
              <a:buChar char="v"/>
              <a:defRPr/>
            </a:pPr>
            <a:r>
              <a:rPr lang="en-US" sz="2000" dirty="0" smtClean="0">
                <a:latin typeface="Arial Narrow" panose="020B0606020202030204" pitchFamily="34" charset="0"/>
              </a:rPr>
              <a:t>GUI</a:t>
            </a:r>
            <a:endParaRPr lang="en-US" sz="2000" dirty="0">
              <a:latin typeface="Arial Narrow" panose="020B060602020203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836712"/>
            <a:ext cx="8229600" cy="648072"/>
          </a:xfrm>
        </p:spPr>
        <p:txBody>
          <a:bodyPr>
            <a:normAutofit fontScale="90000"/>
          </a:bodyPr>
          <a:lstStyle/>
          <a:p>
            <a:pPr algn="ctr"/>
            <a:br>
              <a:rPr lang="en-IN" sz="5400" b="1" dirty="0" smtClean="0">
                <a:solidFill>
                  <a:schemeClr val="bg1"/>
                </a:solidFill>
                <a:latin typeface="Algerian" panose="04020705040A02060702" pitchFamily="82" charset="0"/>
              </a:rPr>
            </a:br>
            <a:r>
              <a:rPr lang="en-US" sz="4800" b="1" dirty="0" smtClean="0">
                <a:solidFill>
                  <a:schemeClr val="tx1"/>
                </a:solidFill>
                <a:latin typeface="Algerian" panose="04020705040A02060702" pitchFamily="82" charset="0"/>
              </a:rPr>
              <a:t>DATA FLOW DIAGRAM</a:t>
            </a:r>
            <a:endParaRPr lang="en-US" dirty="0">
              <a:solidFill>
                <a:schemeClr val="tx1"/>
              </a:solidFill>
            </a:endParaRPr>
          </a:p>
        </p:txBody>
      </p:sp>
      <p:sp>
        <p:nvSpPr>
          <p:cNvPr id="3" name="Content Placeholder 2"/>
          <p:cNvSpPr>
            <a:spLocks noGrp="1"/>
          </p:cNvSpPr>
          <p:nvPr>
            <p:ph idx="1"/>
          </p:nvPr>
        </p:nvSpPr>
        <p:spPr/>
        <p:txBody>
          <a:bodyPr/>
          <a:lstStyle/>
          <a:p>
            <a:pPr>
              <a:buNone/>
            </a:pPr>
            <a:endParaRPr lang="en-US" dirty="0"/>
          </a:p>
        </p:txBody>
      </p:sp>
      <p:pic>
        <p:nvPicPr>
          <p:cNvPr id="4" name="Picture 3" descr="DFD0.jpg"/>
          <p:cNvPicPr>
            <a:picLocks noChangeAspect="1"/>
          </p:cNvPicPr>
          <p:nvPr/>
        </p:nvPicPr>
        <p:blipFill>
          <a:blip r:embed="rId1" cstate="print"/>
          <a:stretch>
            <a:fillRect/>
          </a:stretch>
        </p:blipFill>
        <p:spPr>
          <a:xfrm>
            <a:off x="827584" y="2780928"/>
            <a:ext cx="7286676" cy="3072384"/>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solidFill>
                  <a:schemeClr val="tx1"/>
                </a:solidFill>
                <a:latin typeface="Times New Roman" panose="02020603050405020304" pitchFamily="18" charset="0"/>
                <a:cs typeface="Times New Roman" panose="02020603050405020304" pitchFamily="18" charset="0"/>
              </a:rPr>
              <a:t>DATA FLOW DIAGRAM</a:t>
            </a:r>
            <a:endParaRPr lang="en-US" sz="4000" dirty="0">
              <a:latin typeface="Times New Roman" panose="02020603050405020304" pitchFamily="18" charset="0"/>
              <a:cs typeface="Times New Roman" panose="02020603050405020304" pitchFamily="18" charset="0"/>
            </a:endParaRPr>
          </a:p>
        </p:txBody>
      </p:sp>
      <p:pic>
        <p:nvPicPr>
          <p:cNvPr id="4" name="Picture 3" descr="DFD0.jpg"/>
          <p:cNvPicPr>
            <a:picLocks noChangeAspect="1"/>
          </p:cNvPicPr>
          <p:nvPr/>
        </p:nvPicPr>
        <p:blipFill>
          <a:blip r:embed="rId1" cstate="print"/>
          <a:stretch>
            <a:fillRect/>
          </a:stretch>
        </p:blipFill>
        <p:spPr>
          <a:xfrm>
            <a:off x="928662" y="1892808"/>
            <a:ext cx="7286676" cy="3480408"/>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FD1.jpg"/>
          <p:cNvPicPr>
            <a:picLocks noChangeAspect="1"/>
          </p:cNvPicPr>
          <p:nvPr/>
        </p:nvPicPr>
        <p:blipFill>
          <a:blip r:embed="rId1" cstate="print"/>
          <a:stretch>
            <a:fillRect/>
          </a:stretch>
        </p:blipFill>
        <p:spPr>
          <a:xfrm>
            <a:off x="571472" y="1196752"/>
            <a:ext cx="8072494" cy="4600544"/>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1" cstate="print"/>
          <a:srcRect/>
          <a:stretch>
            <a:fillRect/>
          </a:stretch>
        </p:blipFill>
        <p:spPr bwMode="auto">
          <a:xfrm>
            <a:off x="1428728" y="1052736"/>
            <a:ext cx="6357981" cy="55528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fd.jpg"/>
          <p:cNvPicPr>
            <a:picLocks noChangeAspect="1"/>
          </p:cNvPicPr>
          <p:nvPr/>
        </p:nvPicPr>
        <p:blipFill>
          <a:blip r:embed="rId1" cstate="print"/>
          <a:stretch>
            <a:fillRect/>
          </a:stretch>
        </p:blipFill>
        <p:spPr>
          <a:xfrm>
            <a:off x="0" y="1196752"/>
            <a:ext cx="8748464" cy="5661248"/>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fd.jpg"/>
          <p:cNvPicPr>
            <a:picLocks noChangeAspect="1"/>
          </p:cNvPicPr>
          <p:nvPr/>
        </p:nvPicPr>
        <p:blipFill>
          <a:blip r:embed="rId1" cstate="print"/>
          <a:stretch>
            <a:fillRect/>
          </a:stretch>
        </p:blipFill>
        <p:spPr>
          <a:xfrm>
            <a:off x="0" y="1124744"/>
            <a:ext cx="9143999" cy="5733256"/>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e case.jpg"/>
          <p:cNvPicPr>
            <a:picLocks noChangeAspect="1"/>
          </p:cNvPicPr>
          <p:nvPr/>
        </p:nvPicPr>
        <p:blipFill>
          <a:blip r:embed="rId1" cstate="print"/>
          <a:stretch>
            <a:fillRect/>
          </a:stretch>
        </p:blipFill>
        <p:spPr>
          <a:xfrm>
            <a:off x="0" y="1124744"/>
            <a:ext cx="9144000" cy="5733256"/>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CLASS DIAGRAM</a:t>
            </a:r>
            <a:endParaRPr lang="en-US" dirty="0"/>
          </a:p>
        </p:txBody>
      </p:sp>
      <p:pic>
        <p:nvPicPr>
          <p:cNvPr id="3" name="Picture 2" descr="class.jpg"/>
          <p:cNvPicPr>
            <a:picLocks noChangeAspect="1"/>
          </p:cNvPicPr>
          <p:nvPr/>
        </p:nvPicPr>
        <p:blipFill>
          <a:blip r:embed="rId1" cstate="print"/>
          <a:stretch>
            <a:fillRect/>
          </a:stretch>
        </p:blipFill>
        <p:spPr>
          <a:xfrm>
            <a:off x="467544" y="1988840"/>
            <a:ext cx="8352928" cy="432048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USER INTERFACE</a:t>
            </a:r>
            <a:endParaRPr lang="en-US" dirty="0"/>
          </a:p>
        </p:txBody>
      </p:sp>
      <p:pic>
        <p:nvPicPr>
          <p:cNvPr id="3" name="Picture 2"/>
          <p:cNvPicPr/>
          <p:nvPr/>
        </p:nvPicPr>
        <p:blipFill>
          <a:blip r:embed="rId1" cstate="print"/>
          <a:srcRect/>
          <a:stretch>
            <a:fillRect/>
          </a:stretch>
        </p:blipFill>
        <p:spPr bwMode="auto">
          <a:xfrm>
            <a:off x="1500166" y="2036127"/>
            <a:ext cx="6000791" cy="278574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cstate="print"/>
          <a:srcRect/>
          <a:stretch>
            <a:fillRect/>
          </a:stretch>
        </p:blipFill>
        <p:spPr bwMode="auto">
          <a:xfrm>
            <a:off x="857225" y="993138"/>
            <a:ext cx="6681178" cy="46504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cstate="print"/>
          <a:srcRect/>
          <a:stretch>
            <a:fillRect/>
          </a:stretch>
        </p:blipFill>
        <p:spPr bwMode="auto">
          <a:xfrm>
            <a:off x="857225" y="1285860"/>
            <a:ext cx="6681178" cy="40005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cstate="print"/>
          <a:srcRect/>
          <a:stretch>
            <a:fillRect/>
          </a:stretch>
        </p:blipFill>
        <p:spPr bwMode="auto">
          <a:xfrm>
            <a:off x="928662" y="1357298"/>
            <a:ext cx="6615138" cy="36985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cstate="print"/>
          <a:srcRect/>
          <a:stretch>
            <a:fillRect/>
          </a:stretch>
        </p:blipFill>
        <p:spPr bwMode="auto">
          <a:xfrm>
            <a:off x="1000100" y="857233"/>
            <a:ext cx="6543700" cy="450058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TOOLS USED</a:t>
            </a:r>
            <a:endParaRPr lang="en-US" dirty="0"/>
          </a:p>
        </p:txBody>
      </p:sp>
      <p:sp>
        <p:nvSpPr>
          <p:cNvPr id="3" name="Content Placeholder 2"/>
          <p:cNvSpPr>
            <a:spLocks noGrp="1"/>
          </p:cNvSpPr>
          <p:nvPr>
            <p:ph idx="1"/>
          </p:nvPr>
        </p:nvSpPr>
        <p:spPr/>
        <p:txBody>
          <a:bodyPr/>
          <a:lstStyle/>
          <a:p>
            <a:pPr marL="342900" lvl="0" indent="-342900">
              <a:buClrTx/>
              <a:buSzTx/>
              <a:buFont typeface="Wingdings" panose="05000000000000000000" pitchFamily="2" charset="2"/>
              <a:buChar char="v"/>
              <a:defRPr/>
            </a:pPr>
            <a:r>
              <a:rPr lang="en-US" sz="2800" dirty="0" smtClean="0">
                <a:latin typeface="Arial Narrow" panose="020B0606020202030204" pitchFamily="34" charset="0"/>
              </a:rPr>
              <a:t>JAVA SPEECH API</a:t>
            </a:r>
            <a:endParaRPr lang="en-US" sz="2800" dirty="0" smtClean="0">
              <a:latin typeface="Arial Narrow" panose="020B0606020202030204" pitchFamily="34" charset="0"/>
            </a:endParaRPr>
          </a:p>
          <a:p>
            <a:pPr marL="800100" lvl="1" indent="-342900">
              <a:buFont typeface="Wingdings" panose="05000000000000000000" pitchFamily="2" charset="2"/>
              <a:buChar char="v"/>
            </a:pPr>
            <a:r>
              <a:rPr lang="en-US" dirty="0" smtClean="0">
                <a:latin typeface="Arial Narrow" panose="020B0606020202030204" pitchFamily="34" charset="0"/>
              </a:rPr>
              <a:t>Cloud Garden</a:t>
            </a:r>
            <a:endParaRPr lang="en-US" dirty="0" smtClean="0">
              <a:latin typeface="Arial Narrow" panose="020B0606020202030204" pitchFamily="34" charset="0"/>
            </a:endParaRPr>
          </a:p>
          <a:p>
            <a:pPr marL="1143000" lvl="2" indent="-228600">
              <a:buClrTx/>
              <a:buSzTx/>
              <a:buFont typeface="Wingdings" panose="05000000000000000000" pitchFamily="2" charset="2"/>
              <a:buChar char="v"/>
              <a:defRPr/>
            </a:pPr>
            <a:r>
              <a:rPr lang="en-US" sz="2400" dirty="0" err="1" smtClean="0">
                <a:latin typeface="Arial Narrow" panose="020B0606020202030204" pitchFamily="34" charset="0"/>
              </a:rPr>
              <a:t>Cgjsapi</a:t>
            </a:r>
            <a:endParaRPr lang="en-US" sz="2400" dirty="0" smtClean="0">
              <a:latin typeface="Arial Narrow" panose="020B0606020202030204" pitchFamily="34" charset="0"/>
            </a:endParaRPr>
          </a:p>
          <a:p>
            <a:pPr marL="1143000" lvl="2" indent="-228600">
              <a:buClrTx/>
              <a:buSzTx/>
              <a:buFont typeface="Wingdings" panose="05000000000000000000" pitchFamily="2" charset="2"/>
              <a:buChar char="v"/>
              <a:defRPr/>
            </a:pPr>
            <a:r>
              <a:rPr lang="en-US" sz="2400" dirty="0" smtClean="0">
                <a:latin typeface="Arial Narrow" panose="020B0606020202030204" pitchFamily="34" charset="0"/>
              </a:rPr>
              <a:t>cgjsapi170_x64.dll</a:t>
            </a:r>
            <a:endParaRPr lang="en-US" sz="2400" dirty="0" smtClean="0">
              <a:latin typeface="Arial Narrow" panose="020B0606020202030204" pitchFamily="34" charset="0"/>
            </a:endParaRPr>
          </a:p>
          <a:p>
            <a:pPr marL="1143000" lvl="2" indent="-228600">
              <a:buClrTx/>
              <a:buSzTx/>
              <a:buFont typeface="Wingdings" panose="05000000000000000000" pitchFamily="2" charset="2"/>
              <a:buChar char="v"/>
              <a:defRPr/>
            </a:pPr>
            <a:r>
              <a:rPr lang="en-US" sz="2400" dirty="0" smtClean="0">
                <a:latin typeface="Arial Narrow" panose="020B0606020202030204" pitchFamily="34" charset="0"/>
              </a:rPr>
              <a:t>cgjsapi170.dll</a:t>
            </a:r>
            <a:endParaRPr lang="en-US" sz="2400" dirty="0" smtClean="0">
              <a:latin typeface="Arial Narrow" panose="020B0606020202030204" pitchFamily="34" charset="0"/>
            </a:endParaRPr>
          </a:p>
          <a:p>
            <a:pPr marL="342900" lvl="0" indent="-342900">
              <a:buClrTx/>
              <a:buSzTx/>
              <a:buFont typeface="Wingdings" panose="05000000000000000000" pitchFamily="2" charset="2"/>
              <a:buChar char="v"/>
              <a:defRPr/>
            </a:pPr>
            <a:endParaRPr lang="en-US" sz="2000" dirty="0" smtClean="0">
              <a:latin typeface="Arial Narrow" panose="020B0606020202030204" pitchFamily="34" charset="0"/>
            </a:endParaRPr>
          </a:p>
          <a:p>
            <a:pPr marL="800100" lvl="1" indent="-342900">
              <a:buFont typeface="Wingdings" panose="05000000000000000000" pitchFamily="2" charset="2"/>
              <a:buChar char="v"/>
            </a:pPr>
            <a:r>
              <a:rPr lang="en-US" sz="2800" dirty="0" smtClean="0">
                <a:latin typeface="Arial Narrow" panose="020B0606020202030204" pitchFamily="34" charset="0"/>
              </a:rPr>
              <a:t>NET BEANS</a:t>
            </a:r>
            <a:endParaRPr lang="en-US" sz="2800" dirty="0" smtClean="0">
              <a:latin typeface="Arial Narrow" panose="020B0606020202030204" pitchFamily="34" charset="0"/>
            </a:endParaRPr>
          </a:p>
          <a:p>
            <a:pPr marL="1257300" lvl="2" indent="-342900">
              <a:buFont typeface="Wingdings" panose="05000000000000000000" pitchFamily="2" charset="2"/>
              <a:buChar char="v"/>
            </a:pPr>
            <a:r>
              <a:rPr lang="en-US" sz="2400" dirty="0" smtClean="0">
                <a:latin typeface="Arial Narrow" panose="020B0606020202030204" pitchFamily="34" charset="0"/>
              </a:rPr>
              <a:t>NetBeans6.0</a:t>
            </a:r>
            <a:endParaRPr lang="en-US" sz="2400" dirty="0" smtClean="0">
              <a:latin typeface="Arial Narrow" panose="020B0606020202030204" pitchFamily="34" charset="0"/>
            </a:endParaRPr>
          </a:p>
          <a:p>
            <a:pPr marL="1200150" lvl="2" indent="-285750">
              <a:buFont typeface="Wingdings" panose="05000000000000000000" pitchFamily="2" charset="2"/>
              <a:buChar char="v"/>
            </a:pPr>
            <a:r>
              <a:rPr lang="en-US" sz="2400" dirty="0" smtClean="0">
                <a:latin typeface="Arial Narrow" panose="020B0606020202030204" pitchFamily="34" charset="0"/>
              </a:rPr>
              <a:t>Java(jdk1.6.0)</a:t>
            </a:r>
            <a:endParaRPr lang="en-US" sz="2400" dirty="0" smtClean="0">
              <a:latin typeface="Arial Narrow" panose="020B0606020202030204" pitchFamily="34" charset="0"/>
            </a:endParaRP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SWOT ANALYSIS</a:t>
            </a:r>
            <a:endParaRPr lang="en-US" dirty="0"/>
          </a:p>
        </p:txBody>
      </p:sp>
      <p:sp>
        <p:nvSpPr>
          <p:cNvPr id="3" name="Content Placeholder 2"/>
          <p:cNvSpPr>
            <a:spLocks noGrp="1"/>
          </p:cNvSpPr>
          <p:nvPr>
            <p:ph idx="1"/>
          </p:nvPr>
        </p:nvSpPr>
        <p:spPr/>
        <p:txBody>
          <a:bodyPr>
            <a:normAutofit fontScale="85000" lnSpcReduction="20000"/>
          </a:bodyPr>
          <a:lstStyle/>
          <a:p>
            <a:pPr lvl="1" eaLnBrk="0" fontAlgn="base" hangingPunct="0">
              <a:spcBef>
                <a:spcPct val="0"/>
              </a:spcBef>
              <a:spcAft>
                <a:spcPct val="0"/>
              </a:spcAft>
              <a:tabLst>
                <a:tab pos="711200" algn="l"/>
              </a:tabLst>
            </a:pPr>
            <a:r>
              <a:rPr lang="en-US" sz="2000" b="1" u="sng" dirty="0" smtClean="0">
                <a:latin typeface="Arial Narrow" panose="020B0606020202030204" pitchFamily="34" charset="0"/>
                <a:ea typeface="Times New Roman" panose="02020603050405020304" pitchFamily="18" charset="0"/>
                <a:cs typeface="Arial" panose="020B0604020202020204" pitchFamily="34" charset="0"/>
              </a:rPr>
              <a:t>STRENGTH</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buFontTx/>
              <a:buChar char="•"/>
              <a:tabLst>
                <a:tab pos="711200" algn="l"/>
              </a:tabLst>
            </a:pPr>
            <a:endParaRPr lang="en-US" sz="2000" dirty="0" smtClean="0">
              <a:latin typeface="Arial Narrow" panose="020B0606020202030204" pitchFamily="34" charset="0"/>
              <a:ea typeface="Times New Roman" panose="02020603050405020304" pitchFamily="18" charset="0"/>
              <a:cs typeface="Arial" panose="020B0604020202020204" pitchFamily="34" charset="0"/>
            </a:endParaRPr>
          </a:p>
          <a:p>
            <a:pPr lvl="1" eaLnBrk="0" fontAlgn="base" hangingPunct="0">
              <a:spcBef>
                <a:spcPct val="0"/>
              </a:spcBef>
              <a:spcAft>
                <a:spcPct val="0"/>
              </a:spcAft>
              <a:buFontTx/>
              <a:buChar char="•"/>
              <a:tabLst>
                <a:tab pos="711200" algn="l"/>
              </a:tabLst>
            </a:pPr>
            <a:r>
              <a:rPr lang="en-US" sz="2000" dirty="0" smtClean="0">
                <a:latin typeface="Arial Narrow" panose="020B0606020202030204" pitchFamily="34" charset="0"/>
                <a:ea typeface="Times New Roman" panose="02020603050405020304" pitchFamily="18" charset="0"/>
                <a:cs typeface="Arial" panose="020B0604020202020204" pitchFamily="34" charset="0"/>
              </a:rPr>
              <a:t>Easy user Interface</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buFontTx/>
              <a:buChar char="•"/>
              <a:tabLst>
                <a:tab pos="711200" algn="l"/>
              </a:tabLst>
            </a:pPr>
            <a:r>
              <a:rPr lang="en-US" sz="2000" dirty="0" smtClean="0">
                <a:latin typeface="Arial Narrow" panose="020B0606020202030204" pitchFamily="34" charset="0"/>
                <a:ea typeface="Times New Roman" panose="02020603050405020304" pitchFamily="18" charset="0"/>
                <a:cs typeface="Arial" panose="020B0604020202020204" pitchFamily="34" charset="0"/>
              </a:rPr>
              <a:t>Portability</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tabLst>
                <a:tab pos="711200" algn="l"/>
              </a:tabLst>
            </a:pPr>
            <a:endParaRPr lang="en-US" sz="2000" b="1" u="sng" dirty="0" smtClean="0">
              <a:latin typeface="Arial Narrow" panose="020B0606020202030204" pitchFamily="34" charset="0"/>
              <a:ea typeface="Times New Roman" panose="02020603050405020304" pitchFamily="18" charset="0"/>
              <a:cs typeface="Arial" panose="020B0604020202020204" pitchFamily="34" charset="0"/>
            </a:endParaRPr>
          </a:p>
          <a:p>
            <a:pPr lvl="1" eaLnBrk="0" fontAlgn="base" hangingPunct="0">
              <a:spcBef>
                <a:spcPct val="0"/>
              </a:spcBef>
              <a:spcAft>
                <a:spcPct val="0"/>
              </a:spcAft>
              <a:tabLst>
                <a:tab pos="711200" algn="l"/>
              </a:tabLst>
            </a:pPr>
            <a:r>
              <a:rPr lang="en-US" sz="2000" b="1" u="sng" dirty="0" smtClean="0">
                <a:latin typeface="Arial Narrow" panose="020B0606020202030204" pitchFamily="34" charset="0"/>
                <a:ea typeface="Times New Roman" panose="02020603050405020304" pitchFamily="18" charset="0"/>
                <a:cs typeface="Arial" panose="020B0604020202020204" pitchFamily="34" charset="0"/>
              </a:rPr>
              <a:t>WEAKNESS</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buFontTx/>
              <a:buChar char="•"/>
              <a:tabLst>
                <a:tab pos="711200" algn="l"/>
              </a:tabLst>
            </a:pPr>
            <a:endParaRPr lang="en-US" sz="2000" dirty="0" smtClean="0">
              <a:latin typeface="Arial Narrow" panose="020B0606020202030204" pitchFamily="34" charset="0"/>
              <a:ea typeface="Times New Roman" panose="02020603050405020304" pitchFamily="18" charset="0"/>
              <a:cs typeface="Arial" panose="020B0604020202020204" pitchFamily="34" charset="0"/>
            </a:endParaRPr>
          </a:p>
          <a:p>
            <a:pPr lvl="1" eaLnBrk="0" fontAlgn="base" hangingPunct="0">
              <a:spcBef>
                <a:spcPct val="0"/>
              </a:spcBef>
              <a:spcAft>
                <a:spcPct val="0"/>
              </a:spcAft>
              <a:buFontTx/>
              <a:buChar char="•"/>
              <a:tabLst>
                <a:tab pos="711200" algn="l"/>
              </a:tabLst>
            </a:pPr>
            <a:r>
              <a:rPr lang="en-US" sz="2000" dirty="0" smtClean="0">
                <a:latin typeface="Arial Narrow" panose="020B0606020202030204" pitchFamily="34" charset="0"/>
                <a:ea typeface="Times New Roman" panose="02020603050405020304" pitchFamily="18" charset="0"/>
                <a:cs typeface="Arial" panose="020B0604020202020204" pitchFamily="34" charset="0"/>
              </a:rPr>
              <a:t>Less Security</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buFontTx/>
              <a:buChar char="•"/>
              <a:tabLst>
                <a:tab pos="711200" algn="l"/>
              </a:tabLst>
            </a:pPr>
            <a:r>
              <a:rPr lang="en-US" sz="2000" dirty="0" smtClean="0">
                <a:latin typeface="Arial Narrow" panose="020B0606020202030204" pitchFamily="34" charset="0"/>
                <a:ea typeface="Times New Roman" panose="02020603050405020304" pitchFamily="18" charset="0"/>
                <a:cs typeface="Arial" panose="020B0604020202020204" pitchFamily="34" charset="0"/>
              </a:rPr>
              <a:t>Crack able</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buFontTx/>
              <a:buChar char="•"/>
              <a:tabLst>
                <a:tab pos="711200" algn="l"/>
              </a:tabLst>
            </a:pPr>
            <a:r>
              <a:rPr lang="en-US" sz="2000" dirty="0" smtClean="0">
                <a:latin typeface="Arial Narrow" panose="020B0606020202030204" pitchFamily="34" charset="0"/>
                <a:ea typeface="Times New Roman" panose="02020603050405020304" pitchFamily="18" charset="0"/>
                <a:cs typeface="Arial" panose="020B0604020202020204" pitchFamily="34" charset="0"/>
              </a:rPr>
              <a:t>Comport should be selected manually</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tabLst>
                <a:tab pos="711200" algn="l"/>
              </a:tabLst>
            </a:pPr>
            <a:endParaRPr lang="en-US" sz="2000" b="1" u="sng" dirty="0" smtClean="0">
              <a:latin typeface="Arial Narrow" panose="020B0606020202030204" pitchFamily="34" charset="0"/>
              <a:ea typeface="Times New Roman" panose="02020603050405020304" pitchFamily="18" charset="0"/>
              <a:cs typeface="Arial" panose="020B0604020202020204" pitchFamily="34" charset="0"/>
            </a:endParaRPr>
          </a:p>
          <a:p>
            <a:pPr lvl="1" eaLnBrk="0" fontAlgn="base" hangingPunct="0">
              <a:spcBef>
                <a:spcPct val="0"/>
              </a:spcBef>
              <a:spcAft>
                <a:spcPct val="0"/>
              </a:spcAft>
              <a:tabLst>
                <a:tab pos="711200" algn="l"/>
              </a:tabLst>
            </a:pPr>
            <a:r>
              <a:rPr lang="en-US" sz="2000" b="1" u="sng" dirty="0" smtClean="0">
                <a:latin typeface="Arial Narrow" panose="020B0606020202030204" pitchFamily="34" charset="0"/>
                <a:ea typeface="Times New Roman" panose="02020603050405020304" pitchFamily="18" charset="0"/>
                <a:cs typeface="Arial" panose="020B0604020202020204" pitchFamily="34" charset="0"/>
              </a:rPr>
              <a:t>OPPORTUNITY</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buFontTx/>
              <a:buChar char="•"/>
              <a:tabLst>
                <a:tab pos="711200" algn="l"/>
              </a:tabLst>
            </a:pPr>
            <a:endParaRPr lang="en-US" sz="2000" dirty="0" smtClean="0">
              <a:latin typeface="Arial Narrow" panose="020B0606020202030204" pitchFamily="34" charset="0"/>
              <a:ea typeface="Times New Roman" panose="02020603050405020304" pitchFamily="18" charset="0"/>
              <a:cs typeface="Arial" panose="020B0604020202020204" pitchFamily="34" charset="0"/>
            </a:endParaRPr>
          </a:p>
          <a:p>
            <a:pPr lvl="1" eaLnBrk="0" fontAlgn="base" hangingPunct="0">
              <a:spcBef>
                <a:spcPct val="0"/>
              </a:spcBef>
              <a:spcAft>
                <a:spcPct val="0"/>
              </a:spcAft>
              <a:buFontTx/>
              <a:buChar char="•"/>
              <a:tabLst>
                <a:tab pos="711200" algn="l"/>
              </a:tabLst>
            </a:pPr>
            <a:r>
              <a:rPr lang="en-US" sz="2000" dirty="0" smtClean="0">
                <a:latin typeface="Arial Narrow" panose="020B0606020202030204" pitchFamily="34" charset="0"/>
                <a:ea typeface="Times New Roman" panose="02020603050405020304" pitchFamily="18" charset="0"/>
                <a:cs typeface="Arial" panose="020B0604020202020204" pitchFamily="34" charset="0"/>
              </a:rPr>
              <a:t>256 Bit Encryption may improve the security process</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buFontTx/>
              <a:buChar char="•"/>
              <a:tabLst>
                <a:tab pos="711200" algn="l"/>
              </a:tabLst>
            </a:pPr>
            <a:r>
              <a:rPr lang="en-US" sz="2000" dirty="0" smtClean="0">
                <a:latin typeface="Arial Narrow" panose="020B0606020202030204" pitchFamily="34" charset="0"/>
                <a:ea typeface="Times New Roman" panose="02020603050405020304" pitchFamily="18" charset="0"/>
                <a:cs typeface="Arial" panose="020B0604020202020204" pitchFamily="34" charset="0"/>
              </a:rPr>
              <a:t>We Can make it Online Also through JSP Technology</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tabLst>
                <a:tab pos="711200" algn="l"/>
              </a:tabLst>
            </a:pPr>
            <a:endParaRPr lang="en-US" sz="2000" b="1" u="sng" dirty="0" smtClean="0">
              <a:latin typeface="Arial Narrow" panose="020B0606020202030204" pitchFamily="34" charset="0"/>
              <a:ea typeface="Times New Roman" panose="02020603050405020304" pitchFamily="18" charset="0"/>
              <a:cs typeface="Arial" panose="020B0604020202020204" pitchFamily="34" charset="0"/>
            </a:endParaRPr>
          </a:p>
          <a:p>
            <a:pPr lvl="1" eaLnBrk="0" fontAlgn="base" hangingPunct="0">
              <a:spcBef>
                <a:spcPct val="0"/>
              </a:spcBef>
              <a:spcAft>
                <a:spcPct val="0"/>
              </a:spcAft>
              <a:tabLst>
                <a:tab pos="711200" algn="l"/>
              </a:tabLst>
            </a:pPr>
            <a:r>
              <a:rPr lang="en-US" sz="2000" b="1" u="sng" dirty="0" smtClean="0">
                <a:latin typeface="Arial Narrow" panose="020B0606020202030204" pitchFamily="34" charset="0"/>
                <a:ea typeface="Times New Roman" panose="02020603050405020304" pitchFamily="18" charset="0"/>
                <a:cs typeface="Arial" panose="020B0604020202020204" pitchFamily="34" charset="0"/>
              </a:rPr>
              <a:t>THREATS</a:t>
            </a:r>
            <a:endParaRPr lang="en-US" sz="2000" dirty="0" smtClean="0">
              <a:latin typeface="Arial Narrow" panose="020B0606020202030204" pitchFamily="34" charset="0"/>
              <a:cs typeface="Arial" panose="020B0604020202020204" pitchFamily="34" charset="0"/>
            </a:endParaRPr>
          </a:p>
          <a:p>
            <a:pPr lvl="1" eaLnBrk="0" fontAlgn="base" hangingPunct="0">
              <a:spcBef>
                <a:spcPct val="0"/>
              </a:spcBef>
              <a:spcAft>
                <a:spcPct val="0"/>
              </a:spcAft>
              <a:buFontTx/>
              <a:buChar char="•"/>
              <a:tabLst>
                <a:tab pos="711200" algn="l"/>
              </a:tabLst>
            </a:pPr>
            <a:endParaRPr lang="en-US" sz="2000" dirty="0" smtClean="0">
              <a:latin typeface="Arial Narrow" panose="020B0606020202030204" pitchFamily="34" charset="0"/>
              <a:ea typeface="Times New Roman" panose="02020603050405020304" pitchFamily="18" charset="0"/>
              <a:cs typeface="Arial" panose="020B0604020202020204" pitchFamily="34" charset="0"/>
            </a:endParaRPr>
          </a:p>
          <a:p>
            <a:pPr lvl="1" eaLnBrk="0" fontAlgn="base" hangingPunct="0">
              <a:spcBef>
                <a:spcPct val="0"/>
              </a:spcBef>
              <a:spcAft>
                <a:spcPct val="0"/>
              </a:spcAft>
              <a:buFontTx/>
              <a:buChar char="•"/>
              <a:tabLst>
                <a:tab pos="711200" algn="l"/>
              </a:tabLst>
            </a:pPr>
            <a:r>
              <a:rPr lang="en-US" sz="2000" dirty="0" smtClean="0">
                <a:latin typeface="Arial Narrow" panose="020B0606020202030204" pitchFamily="34" charset="0"/>
                <a:ea typeface="Times New Roman" panose="02020603050405020304" pitchFamily="18" charset="0"/>
                <a:cs typeface="Arial" panose="020B0604020202020204" pitchFamily="34" charset="0"/>
              </a:rPr>
              <a:t>Virus may destroy the software</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0"/>
            <a:ext cx="8229600" cy="1228998"/>
          </a:xfrm>
        </p:spPr>
        <p:txBody>
          <a:bodyPr>
            <a:normAutofit fontScale="90000"/>
          </a:bodyPr>
          <a:lstStyle/>
          <a:p>
            <a:r>
              <a:rPr lang="en-IN" dirty="0" smtClean="0">
                <a:latin typeface="Times New Roman" panose="02020603050405020304" pitchFamily="18" charset="0"/>
                <a:cs typeface="Times New Roman" panose="02020603050405020304" pitchFamily="18" charset="0"/>
              </a:rPr>
              <a:t>      BASICS OF TECHNOLOGY</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9512" y="1628800"/>
            <a:ext cx="8661648" cy="4248472"/>
          </a:xfrm>
        </p:spPr>
        <p:txBody>
          <a:bodyPr>
            <a:normAutofit fontScale="85000" lnSpcReduction="20000"/>
          </a:bodyPr>
          <a:lstStyle/>
          <a:p>
            <a:pPr marL="0" indent="0">
              <a:buNone/>
            </a:pPr>
            <a:r>
              <a:rPr lang="en-IN" sz="3200" b="1" dirty="0">
                <a:latin typeface="Times New Roman" panose="02020603050405020304" pitchFamily="18" charset="0"/>
                <a:cs typeface="Times New Roman" panose="02020603050405020304" pitchFamily="18" charset="0"/>
              </a:rPr>
              <a:t>Hardware Requirements: </a:t>
            </a:r>
            <a:endParaRPr lang="en-IN" sz="3200" b="1" dirty="0" smtClean="0">
              <a:latin typeface="Times New Roman" panose="02020603050405020304" pitchFamily="18" charset="0"/>
              <a:cs typeface="Times New Roman" panose="02020603050405020304" pitchFamily="18" charset="0"/>
            </a:endParaRPr>
          </a:p>
          <a:p>
            <a:pPr marL="0" indent="0">
              <a:buNone/>
            </a:pPr>
            <a:r>
              <a:rPr lang="en-IN" sz="3200" dirty="0">
                <a:latin typeface="Times New Roman" panose="02020603050405020304" pitchFamily="18" charset="0"/>
                <a:cs typeface="Times New Roman" panose="02020603050405020304" pitchFamily="18" charset="0"/>
              </a:rPr>
              <a:t>Processor  </a:t>
            </a:r>
            <a:r>
              <a:rPr lang="en-IN" sz="3200" dirty="0" smtClean="0">
                <a:latin typeface="Times New Roman" panose="02020603050405020304" pitchFamily="18" charset="0"/>
                <a:cs typeface="Times New Roman" panose="02020603050405020304" pitchFamily="18" charset="0"/>
              </a:rPr>
              <a:t> - </a:t>
            </a:r>
            <a:r>
              <a:rPr lang="en-IN" sz="3200" dirty="0">
                <a:latin typeface="Times New Roman" panose="02020603050405020304" pitchFamily="18" charset="0"/>
                <a:cs typeface="Times New Roman" panose="02020603050405020304" pitchFamily="18" charset="0"/>
              </a:rPr>
              <a:t>2.20 </a:t>
            </a:r>
            <a:r>
              <a:rPr lang="en-IN" sz="3200" dirty="0" smtClean="0">
                <a:latin typeface="Times New Roman" panose="02020603050405020304" pitchFamily="18" charset="0"/>
                <a:cs typeface="Times New Roman" panose="02020603050405020304" pitchFamily="18" charset="0"/>
              </a:rPr>
              <a:t>GHz</a:t>
            </a:r>
            <a:endParaRPr lang="en-IN" sz="3200" dirty="0" smtClean="0">
              <a:latin typeface="Times New Roman" panose="02020603050405020304" pitchFamily="18" charset="0"/>
              <a:cs typeface="Times New Roman" panose="02020603050405020304" pitchFamily="18" charset="0"/>
            </a:endParaRPr>
          </a:p>
          <a:p>
            <a:pPr marL="0" indent="0">
              <a:buNone/>
            </a:pPr>
            <a:r>
              <a:rPr lang="en-IN" sz="3200" dirty="0" smtClean="0">
                <a:latin typeface="Times New Roman" panose="02020603050405020304" pitchFamily="18" charset="0"/>
                <a:cs typeface="Times New Roman" panose="02020603050405020304" pitchFamily="18" charset="0"/>
              </a:rPr>
              <a:t>Ram           -  256MB</a:t>
            </a:r>
            <a:endParaRPr lang="en-IN" sz="3200" dirty="0" smtClean="0">
              <a:latin typeface="Times New Roman" panose="02020603050405020304" pitchFamily="18" charset="0"/>
              <a:cs typeface="Times New Roman" panose="02020603050405020304" pitchFamily="18" charset="0"/>
            </a:endParaRPr>
          </a:p>
          <a:p>
            <a:pPr marL="0" indent="0">
              <a:buNone/>
            </a:pPr>
            <a:r>
              <a:rPr lang="en-IN" sz="3200" dirty="0">
                <a:latin typeface="Times New Roman" panose="02020603050405020304" pitchFamily="18" charset="0"/>
                <a:cs typeface="Times New Roman" panose="02020603050405020304" pitchFamily="18" charset="0"/>
              </a:rPr>
              <a:t>Hard </a:t>
            </a:r>
            <a:r>
              <a:rPr lang="en-IN" sz="3200" dirty="0" smtClean="0">
                <a:latin typeface="Times New Roman" panose="02020603050405020304" pitchFamily="18" charset="0"/>
                <a:cs typeface="Times New Roman" panose="02020603050405020304" pitchFamily="18" charset="0"/>
              </a:rPr>
              <a:t>disk   - 512MB free</a:t>
            </a:r>
            <a:endParaRPr lang="en-IN" sz="3200" dirty="0" smtClean="0">
              <a:latin typeface="Times New Roman" panose="02020603050405020304" pitchFamily="18" charset="0"/>
              <a:cs typeface="Times New Roman" panose="02020603050405020304" pitchFamily="18" charset="0"/>
            </a:endParaRPr>
          </a:p>
          <a:p>
            <a:pPr marL="0" indent="0">
              <a:buNone/>
            </a:pPr>
            <a:r>
              <a:rPr lang="en-IN" sz="3200" dirty="0" smtClean="0">
                <a:latin typeface="Times New Roman" panose="02020603050405020304" pitchFamily="18" charset="0"/>
                <a:cs typeface="Times New Roman" panose="02020603050405020304" pitchFamily="18" charset="0"/>
              </a:rPr>
              <a:t>Microphone-  10 to100 </a:t>
            </a:r>
            <a:r>
              <a:rPr lang="en-IN" sz="3200" dirty="0">
                <a:latin typeface="Times New Roman" panose="02020603050405020304" pitchFamily="18" charset="0"/>
                <a:cs typeface="Times New Roman" panose="02020603050405020304" pitchFamily="18" charset="0"/>
              </a:rPr>
              <a:t>mill volts</a:t>
            </a:r>
            <a:endParaRPr lang="en-IN" sz="3200" dirty="0" smtClean="0">
              <a:latin typeface="Times New Roman" panose="02020603050405020304" pitchFamily="18" charset="0"/>
              <a:cs typeface="Times New Roman" panose="02020603050405020304" pitchFamily="18" charset="0"/>
            </a:endParaRPr>
          </a:p>
          <a:p>
            <a:pPr marL="0" indent="0">
              <a:buNone/>
            </a:pPr>
            <a:r>
              <a:rPr lang="en-IN" sz="3200" b="1" dirty="0" smtClean="0">
                <a:latin typeface="Times New Roman" panose="02020603050405020304" pitchFamily="18" charset="0"/>
                <a:cs typeface="Times New Roman" panose="02020603050405020304" pitchFamily="18" charset="0"/>
              </a:rPr>
              <a:t>S/W </a:t>
            </a:r>
            <a:r>
              <a:rPr lang="en-IN" sz="3200" b="1" dirty="0">
                <a:latin typeface="Times New Roman" panose="02020603050405020304" pitchFamily="18" charset="0"/>
                <a:cs typeface="Times New Roman" panose="02020603050405020304" pitchFamily="18" charset="0"/>
              </a:rPr>
              <a:t>System Configuration</a:t>
            </a:r>
            <a:endParaRPr lang="en-IN" sz="3200" dirty="0">
              <a:latin typeface="Times New Roman" panose="02020603050405020304" pitchFamily="18" charset="0"/>
              <a:cs typeface="Times New Roman" panose="02020603050405020304" pitchFamily="18" charset="0"/>
            </a:endParaRPr>
          </a:p>
          <a:p>
            <a:pPr marL="109855" indent="0">
              <a:buNone/>
            </a:pPr>
            <a:r>
              <a:rPr lang="en-IN" sz="3200" dirty="0">
                <a:latin typeface="Times New Roman" panose="02020603050405020304" pitchFamily="18" charset="0"/>
                <a:cs typeface="Times New Roman" panose="02020603050405020304" pitchFamily="18" charset="0"/>
              </a:rPr>
              <a:t>Operating system - Windows </a:t>
            </a:r>
            <a:r>
              <a:rPr lang="en-IN" sz="3200" dirty="0" smtClean="0">
                <a:latin typeface="Times New Roman" panose="02020603050405020304" pitchFamily="18" charset="0"/>
                <a:cs typeface="Times New Roman" panose="02020603050405020304" pitchFamily="18" charset="0"/>
              </a:rPr>
              <a:t>98/XP</a:t>
            </a:r>
            <a:endParaRPr lang="en-IN" sz="3200" dirty="0" smtClean="0">
              <a:latin typeface="Times New Roman" panose="02020603050405020304" pitchFamily="18" charset="0"/>
              <a:cs typeface="Times New Roman" panose="02020603050405020304" pitchFamily="18" charset="0"/>
            </a:endParaRPr>
          </a:p>
          <a:p>
            <a:pPr marL="109855" indent="0">
              <a:buNone/>
            </a:pPr>
            <a:r>
              <a:rPr lang="en-IN" sz="3200" dirty="0">
                <a:latin typeface="Times New Roman" panose="02020603050405020304" pitchFamily="18" charset="0"/>
                <a:cs typeface="Times New Roman" panose="02020603050405020304" pitchFamily="18" charset="0"/>
              </a:rPr>
              <a:t>Java IDE              -  Net beans IDE </a:t>
            </a:r>
            <a:r>
              <a:rPr lang="en-IN" sz="3200" dirty="0" smtClean="0">
                <a:latin typeface="Times New Roman" panose="02020603050405020304" pitchFamily="18" charset="0"/>
                <a:cs typeface="Times New Roman" panose="02020603050405020304" pitchFamily="18" charset="0"/>
              </a:rPr>
              <a:t>6.0</a:t>
            </a:r>
            <a:endParaRPr lang="en-IN" sz="3200" dirty="0" smtClean="0">
              <a:latin typeface="Times New Roman" panose="02020603050405020304" pitchFamily="18" charset="0"/>
              <a:cs typeface="Times New Roman" panose="02020603050405020304" pitchFamily="18" charset="0"/>
            </a:endParaRPr>
          </a:p>
          <a:p>
            <a:pPr marL="109855" indent="0">
              <a:buNone/>
            </a:pPr>
            <a:r>
              <a:rPr lang="en-IN" sz="3200" dirty="0">
                <a:latin typeface="Times New Roman" panose="02020603050405020304" pitchFamily="18" charset="0"/>
                <a:cs typeface="Times New Roman" panose="02020603050405020304" pitchFamily="18" charset="0"/>
              </a:rPr>
              <a:t>Back </a:t>
            </a:r>
            <a:r>
              <a:rPr lang="en-IN" sz="3200" dirty="0" smtClean="0">
                <a:latin typeface="Times New Roman" panose="02020603050405020304" pitchFamily="18" charset="0"/>
                <a:cs typeface="Times New Roman" panose="02020603050405020304" pitchFamily="18" charset="0"/>
              </a:rPr>
              <a:t>End             -   Grammar</a:t>
            </a:r>
            <a:endParaRPr lang="en-IN" sz="3200" dirty="0" smtClean="0">
              <a:latin typeface="Times New Roman" panose="02020603050405020304" pitchFamily="18" charset="0"/>
              <a:cs typeface="Times New Roman" panose="02020603050405020304" pitchFamily="18" charset="0"/>
            </a:endParaRPr>
          </a:p>
          <a:p>
            <a:pPr marL="109855" indent="0">
              <a:buNone/>
            </a:pPr>
            <a:r>
              <a:rPr lang="en-IN" sz="3200" dirty="0">
                <a:latin typeface="Times New Roman" panose="02020603050405020304" pitchFamily="18" charset="0"/>
                <a:cs typeface="Times New Roman" panose="02020603050405020304" pitchFamily="18" charset="0"/>
              </a:rPr>
              <a:t>Front </a:t>
            </a:r>
            <a:r>
              <a:rPr lang="en-IN" sz="3200" dirty="0" smtClean="0">
                <a:latin typeface="Times New Roman" panose="02020603050405020304" pitchFamily="18" charset="0"/>
                <a:cs typeface="Times New Roman" panose="02020603050405020304" pitchFamily="18" charset="0"/>
              </a:rPr>
              <a:t>End             -   Java JDK 1.6</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anose="02020603050405020304" pitchFamily="18" charset="0"/>
                <a:cs typeface="Times New Roman" panose="02020603050405020304" pitchFamily="18" charset="0"/>
              </a:rPr>
              <a:t>           Data Collection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This is desktop application which means it has to</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be installed on any machine.</a:t>
            </a:r>
            <a:endParaRPr lang="en-IN"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The application shall help you to control computer</a:t>
            </a:r>
            <a:endParaRPr lang="en-IN" dirty="0" smtClean="0">
              <a:latin typeface="Times New Roman" panose="02020603050405020304" pitchFamily="18" charset="0"/>
              <a:cs typeface="Times New Roman" panose="02020603050405020304" pitchFamily="18" charset="0"/>
            </a:endParaRPr>
          </a:p>
          <a:p>
            <a:pPr>
              <a:buNone/>
            </a:pPr>
            <a:r>
              <a:rPr lang="en-IN" dirty="0" smtClean="0">
                <a:latin typeface="Times New Roman" panose="02020603050405020304" pitchFamily="18" charset="0"/>
                <a:cs typeface="Times New Roman" panose="02020603050405020304" pitchFamily="18" charset="0"/>
              </a:rPr>
              <a:t>    through voice.</a:t>
            </a:r>
            <a:endParaRPr lang="en-IN"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 It's fast mode of operating computer.</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r>
              <a:rPr lang="en-IN" dirty="0" smtClean="0">
                <a:latin typeface="Times New Roman" panose="02020603050405020304" pitchFamily="18" charset="0"/>
                <a:cs typeface="Times New Roman" panose="02020603050405020304" pitchFamily="18" charset="0"/>
              </a:rPr>
              <a:t>Data Collection(Cont..)</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It will provide the user a definite amount of “hands free” control over the computer, so that we can operate every thing with speaking to the microphone.</a:t>
            </a:r>
            <a:endParaRPr lang="en-IN" dirty="0" smtClean="0">
              <a:latin typeface="Times New Roman" panose="02020603050405020304" pitchFamily="18" charset="0"/>
              <a:cs typeface="Times New Roman" panose="02020603050405020304" pitchFamily="18" charset="0"/>
            </a:endParaRPr>
          </a:p>
          <a:p>
            <a:pPr>
              <a:buNone/>
            </a:pPr>
            <a:endParaRPr lang="en-IN"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It's one of the best methods for operating computer even an illiterate person can operate the computer.</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147248" cy="864096"/>
          </a:xfrm>
        </p:spPr>
        <p:txBody>
          <a:bodyPr/>
          <a:lstStyle/>
          <a:p>
            <a:pPr algn="ctr"/>
            <a:r>
              <a:rPr lang="en-US" dirty="0" smtClean="0"/>
              <a:t>REFERENCES</a:t>
            </a:r>
            <a:endParaRPr lang="en-US" dirty="0"/>
          </a:p>
        </p:txBody>
      </p:sp>
      <p:sp>
        <p:nvSpPr>
          <p:cNvPr id="3" name="Content Placeholder 2"/>
          <p:cNvSpPr>
            <a:spLocks noGrp="1"/>
          </p:cNvSpPr>
          <p:nvPr>
            <p:ph idx="1"/>
          </p:nvPr>
        </p:nvSpPr>
        <p:spPr/>
        <p:txBody>
          <a:bodyPr/>
          <a:lstStyle/>
          <a:p>
            <a:pPr fontAlgn="t"/>
            <a:endParaRPr lang="en-IN" dirty="0" smtClean="0"/>
          </a:p>
          <a:p>
            <a:endParaRPr lang="en-US" dirty="0"/>
          </a:p>
        </p:txBody>
      </p:sp>
      <p:graphicFrame>
        <p:nvGraphicFramePr>
          <p:cNvPr id="4" name="Table 3"/>
          <p:cNvGraphicFramePr>
            <a:graphicFrameLocks noGrp="1"/>
          </p:cNvGraphicFramePr>
          <p:nvPr/>
        </p:nvGraphicFramePr>
        <p:xfrm>
          <a:off x="1115616" y="1484784"/>
          <a:ext cx="5413375" cy="2057400"/>
        </p:xfrm>
        <a:graphic>
          <a:graphicData uri="http://schemas.openxmlformats.org/drawingml/2006/table">
            <a:tbl>
              <a:tblPr/>
              <a:tblGrid>
                <a:gridCol w="520065"/>
                <a:gridCol w="2649855"/>
                <a:gridCol w="2243455"/>
              </a:tblGrid>
              <a:tr h="0">
                <a:tc>
                  <a:txBody>
                    <a:bodyPr/>
                    <a:lstStyle/>
                    <a:p>
                      <a:pPr>
                        <a:lnSpc>
                          <a:spcPct val="150000"/>
                        </a:lnSpc>
                        <a:spcAft>
                          <a:spcPts val="1000"/>
                        </a:spcAft>
                      </a:pPr>
                      <a:endParaRPr lang="en-IN" sz="1800" dirty="0">
                        <a:solidFill>
                          <a:schemeClr val="tx1"/>
                        </a:solidFill>
                        <a:effectLst/>
                        <a:latin typeface="Arial Narrow" panose="020B0606020202030204" pitchFamily="34" charset="0"/>
                        <a:ea typeface="Calibri" panose="020F0502020204030204"/>
                        <a:cs typeface="Times New Roman" panose="02020603050405020304"/>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nSpc>
                          <a:spcPct val="150000"/>
                        </a:lnSpc>
                        <a:spcAft>
                          <a:spcPts val="1000"/>
                        </a:spcAft>
                      </a:pPr>
                      <a:r>
                        <a:rPr lang="en-US" sz="1800" b="1" dirty="0">
                          <a:solidFill>
                            <a:schemeClr val="tx1"/>
                          </a:solidFill>
                          <a:effectLst/>
                          <a:latin typeface="Arial Narrow" panose="020B0606020202030204" pitchFamily="34" charset="0"/>
                          <a:ea typeface="Calibri" panose="020F0502020204030204"/>
                          <a:cs typeface="Times New Roman" panose="02020603050405020304"/>
                        </a:rPr>
                        <a:t>Book Name </a:t>
                      </a:r>
                      <a:endParaRPr lang="en-IN" sz="1800" dirty="0">
                        <a:solidFill>
                          <a:schemeClr val="tx1"/>
                        </a:solidFill>
                        <a:effectLst/>
                        <a:latin typeface="Arial Narrow" panose="020B0606020202030204" pitchFamily="34" charset="0"/>
                        <a:ea typeface="Calibri" panose="020F0502020204030204"/>
                        <a:cs typeface="Times New Roman" panose="02020603050405020304"/>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c>
                  <a:txBody>
                    <a:bodyPr/>
                    <a:lstStyle/>
                    <a:p>
                      <a:pPr>
                        <a:lnSpc>
                          <a:spcPct val="150000"/>
                        </a:lnSpc>
                        <a:spcAft>
                          <a:spcPts val="1000"/>
                        </a:spcAft>
                      </a:pPr>
                      <a:r>
                        <a:rPr lang="en-US" sz="1800" b="1">
                          <a:solidFill>
                            <a:schemeClr val="tx1"/>
                          </a:solidFill>
                          <a:effectLst/>
                          <a:latin typeface="Arial Narrow" panose="020B0606020202030204" pitchFamily="34" charset="0"/>
                          <a:ea typeface="Calibri" panose="020F0502020204030204"/>
                          <a:cs typeface="Times New Roman" panose="02020603050405020304"/>
                        </a:rPr>
                        <a:t>Written By</a:t>
                      </a:r>
                      <a:endParaRPr lang="en-IN" sz="1800">
                        <a:solidFill>
                          <a:schemeClr val="tx1"/>
                        </a:solidFill>
                        <a:effectLst/>
                        <a:latin typeface="Arial Narrow" panose="020B0606020202030204" pitchFamily="34" charset="0"/>
                        <a:ea typeface="Calibri" panose="020F0502020204030204"/>
                        <a:cs typeface="Times New Roman" panose="02020603050405020304"/>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tcPr>
                </a:tc>
              </a:tr>
              <a:tr h="278765">
                <a:tc>
                  <a:txBody>
                    <a:bodyPr/>
                    <a:lstStyle/>
                    <a:p>
                      <a:pPr>
                        <a:lnSpc>
                          <a:spcPct val="150000"/>
                        </a:lnSpc>
                        <a:spcAft>
                          <a:spcPts val="1000"/>
                        </a:spcAft>
                      </a:pPr>
                      <a:r>
                        <a:rPr lang="en-US" sz="1800" b="1">
                          <a:solidFill>
                            <a:schemeClr val="tx1"/>
                          </a:solidFill>
                          <a:effectLst/>
                          <a:latin typeface="Arial Narrow" panose="020B0606020202030204" pitchFamily="34" charset="0"/>
                          <a:ea typeface="Calibri" panose="020F0502020204030204"/>
                          <a:cs typeface="Times New Roman" panose="02020603050405020304"/>
                        </a:rPr>
                        <a:t>1.</a:t>
                      </a:r>
                      <a:endParaRPr lang="en-IN" sz="1800">
                        <a:solidFill>
                          <a:schemeClr val="tx1"/>
                        </a:solidFill>
                        <a:effectLst/>
                        <a:latin typeface="Arial Narrow" panose="020B0606020202030204" pitchFamily="34" charset="0"/>
                        <a:ea typeface="Calibri" panose="020F0502020204030204"/>
                        <a:cs typeface="Times New Roman" panose="02020603050405020304"/>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lnSpc>
                          <a:spcPct val="150000"/>
                        </a:lnSpc>
                        <a:spcAft>
                          <a:spcPts val="0"/>
                        </a:spcAft>
                      </a:pPr>
                      <a:r>
                        <a:rPr lang="en-US" sz="1800" b="1" dirty="0">
                          <a:solidFill>
                            <a:schemeClr val="tx1"/>
                          </a:solidFill>
                          <a:effectLst/>
                          <a:latin typeface="Arial Narrow" panose="020B0606020202030204" pitchFamily="34" charset="0"/>
                          <a:ea typeface="Times New Roman" panose="02020603050405020304"/>
                          <a:cs typeface="Times New Roman" panose="02020603050405020304"/>
                        </a:rPr>
                        <a:t>Java Server Programming</a:t>
                      </a:r>
                      <a:endParaRPr lang="en-IN" sz="1800" dirty="0">
                        <a:solidFill>
                          <a:schemeClr val="tx1"/>
                        </a:solidFill>
                        <a:effectLst/>
                        <a:latin typeface="Arial Narrow" panose="020B0606020202030204" pitchFamily="34" charset="0"/>
                        <a:ea typeface="Times New Roman" panose="02020603050405020304"/>
                        <a:cs typeface="Times New Roman" panose="02020603050405020304"/>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lnSpc>
                          <a:spcPct val="150000"/>
                        </a:lnSpc>
                        <a:spcAft>
                          <a:spcPts val="1000"/>
                        </a:spcAft>
                      </a:pPr>
                      <a:r>
                        <a:rPr lang="en-US" sz="1800" b="1" dirty="0" err="1">
                          <a:solidFill>
                            <a:schemeClr val="tx1"/>
                          </a:solidFill>
                          <a:effectLst/>
                          <a:latin typeface="Arial Narrow" panose="020B0606020202030204" pitchFamily="34" charset="0"/>
                          <a:ea typeface="Calibri" panose="020F0502020204030204"/>
                          <a:cs typeface="Times New Roman" panose="02020603050405020304"/>
                        </a:rPr>
                        <a:t>Subrahmanyam</a:t>
                      </a:r>
                      <a:r>
                        <a:rPr lang="en-US" sz="1800" b="1" dirty="0">
                          <a:solidFill>
                            <a:schemeClr val="tx1"/>
                          </a:solidFill>
                          <a:effectLst/>
                          <a:latin typeface="Arial Narrow" panose="020B0606020202030204" pitchFamily="34" charset="0"/>
                          <a:ea typeface="Calibri" panose="020F0502020204030204"/>
                          <a:cs typeface="Times New Roman" panose="02020603050405020304"/>
                        </a:rPr>
                        <a:t> </a:t>
                      </a:r>
                      <a:r>
                        <a:rPr lang="en-US" sz="1800" b="1" dirty="0" err="1">
                          <a:solidFill>
                            <a:schemeClr val="tx1"/>
                          </a:solidFill>
                          <a:effectLst/>
                          <a:latin typeface="Arial Narrow" panose="020B0606020202030204" pitchFamily="34" charset="0"/>
                          <a:ea typeface="Calibri" panose="020F0502020204030204"/>
                          <a:cs typeface="Times New Roman" panose="02020603050405020304"/>
                        </a:rPr>
                        <a:t>Allamaraju</a:t>
                      </a:r>
                      <a:endParaRPr lang="en-IN" sz="1800" dirty="0">
                        <a:solidFill>
                          <a:schemeClr val="tx1"/>
                        </a:solidFill>
                        <a:effectLst/>
                        <a:latin typeface="Arial Narrow" panose="020B0606020202030204" pitchFamily="34" charset="0"/>
                        <a:ea typeface="Calibri" panose="020F0502020204030204"/>
                        <a:cs typeface="Times New Roman" panose="02020603050405020304"/>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r>
              <a:tr h="545695">
                <a:tc>
                  <a:txBody>
                    <a:bodyPr/>
                    <a:lstStyle/>
                    <a:p>
                      <a:pPr>
                        <a:lnSpc>
                          <a:spcPct val="150000"/>
                        </a:lnSpc>
                        <a:spcAft>
                          <a:spcPts val="1000"/>
                        </a:spcAft>
                      </a:pPr>
                      <a:r>
                        <a:rPr lang="en-US" sz="1800" b="1">
                          <a:solidFill>
                            <a:schemeClr val="tx1"/>
                          </a:solidFill>
                          <a:effectLst/>
                          <a:latin typeface="Arial Narrow" panose="020B0606020202030204" pitchFamily="34" charset="0"/>
                          <a:ea typeface="Calibri" panose="020F0502020204030204"/>
                          <a:cs typeface="Times New Roman" panose="02020603050405020304"/>
                        </a:rPr>
                        <a:t>2.</a:t>
                      </a:r>
                      <a:endParaRPr lang="en-IN" sz="1800">
                        <a:solidFill>
                          <a:schemeClr val="tx1"/>
                        </a:solidFill>
                        <a:effectLst/>
                        <a:latin typeface="Arial Narrow" panose="020B0606020202030204" pitchFamily="34" charset="0"/>
                        <a:ea typeface="Calibri" panose="020F0502020204030204"/>
                        <a:cs typeface="Times New Roman" panose="02020603050405020304"/>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lnSpc>
                          <a:spcPct val="150000"/>
                        </a:lnSpc>
                        <a:spcAft>
                          <a:spcPts val="1000"/>
                        </a:spcAft>
                      </a:pPr>
                      <a:r>
                        <a:rPr lang="en-US" sz="1800" b="1" dirty="0">
                          <a:solidFill>
                            <a:schemeClr val="tx1"/>
                          </a:solidFill>
                          <a:effectLst/>
                          <a:latin typeface="Arial Narrow" panose="020B0606020202030204" pitchFamily="34" charset="0"/>
                          <a:ea typeface="Calibri" panose="020F0502020204030204"/>
                          <a:cs typeface="Times New Roman" panose="02020603050405020304"/>
                        </a:rPr>
                        <a:t>Apache-The Definitive Guide</a:t>
                      </a:r>
                      <a:endParaRPr lang="en-IN" sz="1800" dirty="0">
                        <a:solidFill>
                          <a:schemeClr val="tx1"/>
                        </a:solidFill>
                        <a:effectLst/>
                        <a:latin typeface="Arial Narrow" panose="020B0606020202030204" pitchFamily="34" charset="0"/>
                        <a:ea typeface="Calibri" panose="020F0502020204030204"/>
                        <a:cs typeface="Times New Roman" panose="02020603050405020304"/>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c>
                  <a:txBody>
                    <a:bodyPr/>
                    <a:lstStyle/>
                    <a:p>
                      <a:pPr>
                        <a:lnSpc>
                          <a:spcPct val="150000"/>
                        </a:lnSpc>
                        <a:spcAft>
                          <a:spcPts val="1000"/>
                        </a:spcAft>
                      </a:pPr>
                      <a:r>
                        <a:rPr lang="en-US" sz="1800" b="1" dirty="0">
                          <a:solidFill>
                            <a:schemeClr val="tx1"/>
                          </a:solidFill>
                          <a:effectLst/>
                          <a:latin typeface="Arial Narrow" panose="020B0606020202030204" pitchFamily="34" charset="0"/>
                          <a:ea typeface="Calibri" panose="020F0502020204030204"/>
                          <a:cs typeface="Times New Roman" panose="02020603050405020304"/>
                        </a:rPr>
                        <a:t>Ben Laurie, Peter </a:t>
                      </a:r>
                      <a:r>
                        <a:rPr lang="en-US" sz="1800" b="1" dirty="0" err="1" smtClean="0">
                          <a:solidFill>
                            <a:schemeClr val="tx1"/>
                          </a:solidFill>
                          <a:effectLst/>
                          <a:latin typeface="Arial Narrow" panose="020B0606020202030204" pitchFamily="34" charset="0"/>
                          <a:ea typeface="Calibri" panose="020F0502020204030204"/>
                          <a:cs typeface="Times New Roman" panose="02020603050405020304"/>
                        </a:rPr>
                        <a:t>Lauri</a:t>
                      </a:r>
                      <a:endParaRPr lang="en-US" sz="1800" b="1" dirty="0" smtClean="0">
                        <a:solidFill>
                          <a:schemeClr val="tx1"/>
                        </a:solidFill>
                        <a:effectLst/>
                        <a:latin typeface="Arial Narrow" panose="020B0606020202030204" pitchFamily="34" charset="0"/>
                        <a:ea typeface="Calibri" panose="020F0502020204030204"/>
                        <a:cs typeface="Times New Roman" panose="02020603050405020304"/>
                      </a:endParaRPr>
                    </a:p>
                  </a:txBody>
                  <a:tcPr marL="68580" marR="68580" marT="0" marB="0">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solidFill>
                      <a:srgbClr val="D3DFEE"/>
                    </a:solidFill>
                  </a:tcPr>
                </a:tc>
              </a:tr>
            </a:tbl>
          </a:graphicData>
        </a:graphic>
      </p:graphicFrame>
      <p:sp>
        <p:nvSpPr>
          <p:cNvPr id="5" name="Rectangle 4"/>
          <p:cNvSpPr/>
          <p:nvPr/>
        </p:nvSpPr>
        <p:spPr>
          <a:xfrm>
            <a:off x="1115616" y="3503235"/>
            <a:ext cx="5382344" cy="3354765"/>
          </a:xfrm>
          <a:prstGeom prst="rect">
            <a:avLst/>
          </a:prstGeom>
        </p:spPr>
        <p:txBody>
          <a:bodyPr wrap="square">
            <a:spAutoFit/>
          </a:bodyPr>
          <a:lstStyle/>
          <a:p>
            <a:pPr lvl="0" fontAlgn="base">
              <a:spcBef>
                <a:spcPct val="0"/>
              </a:spcBef>
              <a:spcAft>
                <a:spcPct val="0"/>
              </a:spcAft>
            </a:pPr>
            <a:r>
              <a:rPr lang="en-US" sz="2000" b="1" u="sng" dirty="0" err="1" smtClean="0">
                <a:latin typeface="Arial Narrow" panose="020B0606020202030204" pitchFamily="34" charset="0"/>
                <a:ea typeface="Century Gothic" panose="020B0502020202020204" pitchFamily="34" charset="0"/>
                <a:cs typeface="Times New Roman" panose="02020603050405020304" pitchFamily="18" charset="0"/>
              </a:rPr>
              <a:t>Pdf</a:t>
            </a:r>
            <a:r>
              <a:rPr lang="en-US" sz="2000" b="1" u="sng" dirty="0" smtClean="0">
                <a:latin typeface="Arial Narrow" panose="020B0606020202030204" pitchFamily="34" charset="0"/>
                <a:ea typeface="Century Gothic" panose="020B0502020202020204" pitchFamily="34" charset="0"/>
                <a:cs typeface="Times New Roman" panose="02020603050405020304" pitchFamily="18" charset="0"/>
              </a:rPr>
              <a:t>:</a:t>
            </a:r>
            <a:endParaRPr lang="en-US" sz="2000" dirty="0" smtClean="0">
              <a:latin typeface="Arial Narrow" panose="020B0606020202030204" pitchFamily="34" charset="0"/>
              <a:cs typeface="Arial" panose="020B0604020202020204" pitchFamily="34" charset="0"/>
            </a:endParaRPr>
          </a:p>
          <a:p>
            <a:pPr lvl="0" eaLnBrk="0" fontAlgn="base" hangingPunct="0">
              <a:spcBef>
                <a:spcPct val="0"/>
              </a:spcBef>
              <a:spcAft>
                <a:spcPct val="0"/>
              </a:spcAft>
            </a:pPr>
            <a:r>
              <a:rPr lang="en-US" dirty="0" smtClean="0">
                <a:latin typeface="Arial Narrow" panose="020B0606020202030204" pitchFamily="34" charset="0"/>
                <a:ea typeface="Calibri" panose="020F0502020204030204" charset="0"/>
                <a:cs typeface="Times New Roman" panose="02020603050405020304" pitchFamily="18" charset="0"/>
              </a:rPr>
              <a:t>Java™ Speech API Programmer’s Guide</a:t>
            </a:r>
            <a:r>
              <a:rPr lang="en-US" dirty="0" smtClean="0">
                <a:latin typeface="Arial Narrow" panose="020B0606020202030204" pitchFamily="34" charset="0"/>
                <a:ea typeface="Century Gothic" panose="020B0502020202020204" pitchFamily="34" charset="0"/>
                <a:cs typeface="Times New Roman" panose="02020603050405020304" pitchFamily="18" charset="0"/>
              </a:rPr>
              <a:t> </a:t>
            </a:r>
            <a:endParaRPr lang="en-US" dirty="0" smtClean="0">
              <a:latin typeface="Arial Narrow" panose="020B0606020202030204" pitchFamily="34" charset="0"/>
              <a:ea typeface="Century Gothic" panose="020B0502020202020204" pitchFamily="34" charset="0"/>
              <a:cs typeface="Times New Roman" panose="02020603050405020304" pitchFamily="18" charset="0"/>
            </a:endParaRPr>
          </a:p>
          <a:p>
            <a:pPr lvl="0" eaLnBrk="0" fontAlgn="base" hangingPunct="0">
              <a:spcBef>
                <a:spcPct val="0"/>
              </a:spcBef>
              <a:spcAft>
                <a:spcPct val="0"/>
              </a:spcAft>
            </a:pPr>
            <a:endParaRPr lang="en-US" sz="1000" dirty="0" smtClean="0">
              <a:latin typeface="Arial Narrow" panose="020B0606020202030204" pitchFamily="34" charset="0"/>
              <a:cs typeface="Arial" panose="020B0604020202020204" pitchFamily="34" charset="0"/>
            </a:endParaRPr>
          </a:p>
          <a:p>
            <a:pPr lvl="0" eaLnBrk="0" fontAlgn="base" hangingPunct="0">
              <a:spcBef>
                <a:spcPct val="0"/>
              </a:spcBef>
              <a:spcAft>
                <a:spcPct val="0"/>
              </a:spcAft>
            </a:pPr>
            <a:r>
              <a:rPr lang="en-US" sz="2000" b="1" u="sng" dirty="0" smtClean="0">
                <a:latin typeface="Arial Narrow" panose="020B0606020202030204" pitchFamily="34" charset="0"/>
                <a:ea typeface="Century Gothic" panose="020B0502020202020204" pitchFamily="34" charset="0"/>
                <a:cs typeface="Times New Roman" panose="02020603050405020304" pitchFamily="18" charset="0"/>
              </a:rPr>
              <a:t>Links:</a:t>
            </a:r>
            <a:endParaRPr lang="en-US" sz="2000" dirty="0" smtClean="0">
              <a:latin typeface="Arial Narrow" panose="020B0606020202030204" pitchFamily="34" charset="0"/>
              <a:cs typeface="Arial" panose="020B0604020202020204" pitchFamily="34" charset="0"/>
            </a:endParaRPr>
          </a:p>
          <a:p>
            <a:pPr lvl="0" eaLnBrk="0" fontAlgn="base" hangingPunct="0">
              <a:spcBef>
                <a:spcPct val="0"/>
              </a:spcBef>
              <a:spcAft>
                <a:spcPct val="0"/>
              </a:spcAft>
            </a:pPr>
            <a:r>
              <a:rPr lang="en-US" dirty="0" smtClean="0">
                <a:latin typeface="Arial Narrow" panose="020B0606020202030204" pitchFamily="34" charset="0"/>
                <a:ea typeface="Century Gothic" panose="020B0502020202020204" pitchFamily="34" charset="0"/>
                <a:cs typeface="Times New Roman" panose="02020603050405020304" pitchFamily="18" charset="0"/>
              </a:rPr>
              <a:t>http://www.lifehack.org/articles/technology/how-to-use-windows-vista-speech-recognition.html</a:t>
            </a:r>
            <a:endParaRPr lang="en-US" dirty="0" smtClean="0">
              <a:latin typeface="Arial Narrow" panose="020B0606020202030204" pitchFamily="34" charset="0"/>
              <a:cs typeface="Arial" panose="020B0604020202020204" pitchFamily="34" charset="0"/>
            </a:endParaRPr>
          </a:p>
          <a:p>
            <a:pPr lvl="0" eaLnBrk="0" fontAlgn="base" hangingPunct="0">
              <a:spcBef>
                <a:spcPct val="0"/>
              </a:spcBef>
              <a:spcAft>
                <a:spcPct val="0"/>
              </a:spcAft>
            </a:pPr>
            <a:r>
              <a:rPr lang="en-US" dirty="0" smtClean="0">
                <a:latin typeface="Arial Narrow" panose="020B0606020202030204" pitchFamily="34" charset="0"/>
                <a:ea typeface="Century Gothic" panose="020B0502020202020204" pitchFamily="34" charset="0"/>
                <a:cs typeface="Times New Roman" panose="02020603050405020304" pitchFamily="18" charset="0"/>
              </a:rPr>
              <a:t>http://support.microsoft.com/kb/306901</a:t>
            </a:r>
            <a:endParaRPr lang="en-US" dirty="0" smtClean="0">
              <a:latin typeface="Arial Narrow" panose="020B0606020202030204" pitchFamily="34" charset="0"/>
              <a:cs typeface="Arial" panose="020B0604020202020204" pitchFamily="34" charset="0"/>
            </a:endParaRPr>
          </a:p>
          <a:p>
            <a:pPr lvl="0" eaLnBrk="0" fontAlgn="base" hangingPunct="0">
              <a:spcBef>
                <a:spcPct val="0"/>
              </a:spcBef>
              <a:spcAft>
                <a:spcPct val="0"/>
              </a:spcAft>
            </a:pPr>
            <a:r>
              <a:rPr lang="en-US" dirty="0" smtClean="0">
                <a:latin typeface="Arial Narrow" panose="020B0606020202030204" pitchFamily="34" charset="0"/>
                <a:ea typeface="Century Gothic" panose="020B0502020202020204" pitchFamily="34" charset="0"/>
                <a:cs typeface="Times New Roman" panose="02020603050405020304" pitchFamily="18" charset="0"/>
              </a:rPr>
              <a:t>http://www.nch.com.au/kb/10010.html</a:t>
            </a:r>
            <a:endParaRPr lang="en-US" dirty="0" smtClean="0">
              <a:latin typeface="Arial Narrow" panose="020B0606020202030204" pitchFamily="34" charset="0"/>
              <a:cs typeface="Arial" panose="020B0604020202020204" pitchFamily="34" charset="0"/>
            </a:endParaRPr>
          </a:p>
          <a:p>
            <a:pPr lvl="0" eaLnBrk="0" fontAlgn="base" hangingPunct="0">
              <a:spcBef>
                <a:spcPct val="0"/>
              </a:spcBef>
              <a:spcAft>
                <a:spcPct val="0"/>
              </a:spcAft>
            </a:pPr>
            <a:r>
              <a:rPr lang="en-US" dirty="0" smtClean="0">
                <a:latin typeface="Arial Narrow" panose="020B0606020202030204" pitchFamily="34" charset="0"/>
                <a:ea typeface="Century Gothic" panose="020B0502020202020204" pitchFamily="34" charset="0"/>
                <a:cs typeface="Times New Roman" panose="02020603050405020304" pitchFamily="18" charset="0"/>
              </a:rPr>
              <a:t>http://msdn.microsoft.com/en-us/library/ms695825(v=vs.85).aspx</a:t>
            </a:r>
            <a:endParaRPr lang="en-US" dirty="0" smtClean="0">
              <a:latin typeface="Arial Narrow" panose="020B0606020202030204" pitchFamily="34" charset="0"/>
              <a:cs typeface="Arial" panose="020B0604020202020204" pitchFamily="34" charset="0"/>
            </a:endParaRPr>
          </a:p>
          <a:p>
            <a:pPr lvl="0" eaLnBrk="0" fontAlgn="base" hangingPunct="0">
              <a:spcBef>
                <a:spcPct val="0"/>
              </a:spcBef>
              <a:spcAft>
                <a:spcPct val="0"/>
              </a:spcAft>
            </a:pPr>
            <a:r>
              <a:rPr lang="en-US" dirty="0" smtClean="0">
                <a:latin typeface="Arial Narrow" panose="020B0606020202030204" pitchFamily="34" charset="0"/>
                <a:ea typeface="Century Gothic" panose="020B0502020202020204" pitchFamily="34" charset="0"/>
                <a:cs typeface="Times New Roman" panose="02020603050405020304" pitchFamily="18" charset="0"/>
              </a:rPr>
              <a:t>http://www.bltt.org/text2speech.htm</a:t>
            </a:r>
            <a:endParaRPr lang="en-US" dirty="0" smtClean="0">
              <a:latin typeface="Arial Narrow" panose="020B0606020202030204" pitchFamily="34" charset="0"/>
              <a:cs typeface="Arial" panose="020B0604020202020204" pitchFamily="34" charset="0"/>
            </a:endParaRPr>
          </a:p>
          <a:p>
            <a:pPr lvl="0" eaLnBrk="0" fontAlgn="base" hangingPunct="0">
              <a:spcBef>
                <a:spcPct val="0"/>
              </a:spcBef>
              <a:spcAft>
                <a:spcPct val="0"/>
              </a:spcAft>
            </a:pPr>
            <a:r>
              <a:rPr lang="en-US" dirty="0" smtClean="0">
                <a:latin typeface="Arial Narrow" panose="020B0606020202030204" pitchFamily="34" charset="0"/>
                <a:ea typeface="Century Gothic" panose="020B0502020202020204" pitchFamily="34" charset="0"/>
                <a:cs typeface="Times New Roman" panose="02020603050405020304" pitchFamily="18" charset="0"/>
              </a:rPr>
              <a:t>http://en.wikipedia.org/wiki/Text-to-</a:t>
            </a:r>
            <a:r>
              <a:rPr lang="en-US" dirty="0" smtClean="0">
                <a:solidFill>
                  <a:schemeClr val="bg2"/>
                </a:solidFill>
                <a:latin typeface="Arial Narrow" panose="020B0606020202030204" pitchFamily="34" charset="0"/>
                <a:ea typeface="Century Gothic" panose="020B0502020202020204" pitchFamily="34" charset="0"/>
                <a:cs typeface="Times New Roman" panose="02020603050405020304" pitchFamily="18" charset="0"/>
              </a:rPr>
              <a:t>speech</a:t>
            </a:r>
            <a:endParaRPr lang="en-IN" dirty="0">
              <a:solidFill>
                <a:schemeClr val="bg2"/>
              </a:solidFill>
              <a:latin typeface="Arial Narrow" panose="020B0606020202030204"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91264" cy="346050"/>
          </a:xfrm>
        </p:spPr>
        <p:txBody>
          <a:bodyPr>
            <a:normAutofit/>
          </a:bodyPr>
          <a:lstStyle/>
          <a:p>
            <a:r>
              <a:rPr lang="en-IN" sz="800" dirty="0" smtClean="0">
                <a:latin typeface="Times New Roman" panose="02020603050405020304" pitchFamily="18" charset="0"/>
                <a:cs typeface="Times New Roman" panose="02020603050405020304" pitchFamily="18" charset="0"/>
              </a:rPr>
              <a:t>.</a:t>
            </a:r>
            <a:endParaRPr lang="en-IN" sz="8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0" y="260648"/>
            <a:ext cx="9144000" cy="6597352"/>
          </a:xfr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4695</Words>
  <Application>WPS Presentation</Application>
  <PresentationFormat>On-screen Show (4:3)</PresentationFormat>
  <Paragraphs>196</Paragraphs>
  <Slides>31</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31</vt:i4>
      </vt:variant>
    </vt:vector>
  </HeadingPairs>
  <TitlesOfParts>
    <vt:vector size="48" baseType="lpstr">
      <vt:lpstr>Arial</vt:lpstr>
      <vt:lpstr>SimSun</vt:lpstr>
      <vt:lpstr>Wingdings</vt:lpstr>
      <vt:lpstr>Wingdings 2</vt:lpstr>
      <vt:lpstr>Times New Roman</vt:lpstr>
      <vt:lpstr>Arial Narrow</vt:lpstr>
      <vt:lpstr>Algerian</vt:lpstr>
      <vt:lpstr>Constantia</vt:lpstr>
      <vt:lpstr>Microsoft YaHei</vt:lpstr>
      <vt:lpstr>Arial Unicode MS</vt:lpstr>
      <vt:lpstr>Calibri</vt:lpstr>
      <vt:lpstr>Calibri</vt:lpstr>
      <vt:lpstr>Times New Roman</vt:lpstr>
      <vt:lpstr>Century Gothic</vt:lpstr>
      <vt:lpstr>Cambria</vt:lpstr>
      <vt:lpstr>Castellar</vt:lpstr>
      <vt:lpstr>Flow</vt:lpstr>
      <vt:lpstr>Controlling PC via Voice</vt:lpstr>
      <vt:lpstr> INTRODUCTION</vt:lpstr>
      <vt:lpstr> WHY TO USE THIS PROJECT ?</vt:lpstr>
      <vt:lpstr> Purpose and scope </vt:lpstr>
      <vt:lpstr>    Analysis and Explanation of             Identified Problem       </vt:lpstr>
      <vt:lpstr>   Analysis and Explanation of     Identified Problem (cont..)</vt:lpstr>
      <vt:lpstr>         Literature Review</vt:lpstr>
      <vt:lpstr>   Literature Review (Cont..)</vt:lpstr>
      <vt:lpstr>PowerPoint 演示文稿</vt:lpstr>
      <vt:lpstr>SOFTWARE MODEL(Waterfall Model)</vt:lpstr>
      <vt:lpstr>Design</vt:lpstr>
      <vt:lpstr> DATA FLOW DIAGRAM</vt:lpstr>
      <vt:lpstr>DATA FLOW DIAGRAM</vt:lpstr>
      <vt:lpstr>PowerPoint 演示文稿</vt:lpstr>
      <vt:lpstr>PowerPoint 演示文稿</vt:lpstr>
      <vt:lpstr>PowerPoint 演示文稿</vt:lpstr>
      <vt:lpstr>PowerPoint 演示文稿</vt:lpstr>
      <vt:lpstr>PowerPoint 演示文稿</vt:lpstr>
      <vt:lpstr>CLASS DIAGRAM</vt:lpstr>
      <vt:lpstr>USER INTERFACE</vt:lpstr>
      <vt:lpstr>PowerPoint 演示文稿</vt:lpstr>
      <vt:lpstr>PowerPoint 演示文稿</vt:lpstr>
      <vt:lpstr>PowerPoint 演示文稿</vt:lpstr>
      <vt:lpstr>PowerPoint 演示文稿</vt:lpstr>
      <vt:lpstr>TOOLS USED</vt:lpstr>
      <vt:lpstr>SWOT ANALYSIS</vt:lpstr>
      <vt:lpstr>      BASICS OF TECHNOLOGY</vt:lpstr>
      <vt:lpstr>           Data Collection</vt:lpstr>
      <vt:lpstr>          Data Collection(Cont..)</vt:lpstr>
      <vt:lpstr>REFERENCES</vt:lpstr>
      <vt:lpst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 CALL DATA RECORD USING HIVE</dc:title>
  <dc:creator>lenovo-pc</dc:creator>
  <cp:lastModifiedBy>meghanakandru95</cp:lastModifiedBy>
  <cp:revision>99</cp:revision>
  <dcterms:created xsi:type="dcterms:W3CDTF">2016-08-09T16:29:00Z</dcterms:created>
  <dcterms:modified xsi:type="dcterms:W3CDTF">2025-11-14T05:56:08Z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27332873BFFE42D6B3957F97DE38288C_12</vt:lpwstr>
  </property>
  <property fmtid="{D5CDD505-2E9C-101B-9397-08002B2CF9AE}" pid="3" name="KSOProductBuildVer">
    <vt:lpwstr>1033-12.2.0.23155</vt:lpwstr>
  </property>
</Properties>
</file>